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Marykate" charset="1" panose="00000000000000000000"/>
      <p:regular r:id="rId28"/>
    </p:embeddedFont>
    <p:embeddedFont>
      <p:font typeface="Arsenal" charset="1" panose="00000500000000000000"/>
      <p:regular r:id="rId29"/>
    </p:embeddedFont>
    <p:embeddedFont>
      <p:font typeface="Dekko" charset="1" panose="00000500000000000000"/>
      <p:regular r:id="rId30"/>
    </p:embeddedFont>
    <p:embeddedFont>
      <p:font typeface="Poppins Medium" charset="1" panose="00000600000000000000"/>
      <p:regular r:id="rId31"/>
    </p:embeddedFont>
    <p:embeddedFont>
      <p:font typeface="Poppins" charset="1" panose="00000500000000000000"/>
      <p:regular r:id="rId32"/>
    </p:embeddedFont>
    <p:embeddedFont>
      <p:font typeface="Open Sans 1 Bold" charset="1" panose="00000000000000000000"/>
      <p:regular r:id="rId33"/>
    </p:embeddedFont>
    <p:embeddedFont>
      <p:font typeface="Open Sans 2" charset="1" panose="020B0606030504020204"/>
      <p:regular r:id="rId34"/>
    </p:embeddedFont>
    <p:embeddedFont>
      <p:font typeface="Open Sans 2 Bold" charset="1" panose="020B0806030504020204"/>
      <p:regular r:id="rId35"/>
    </p:embeddedFont>
    <p:embeddedFont>
      <p:font typeface="Cooper Hewitt Bold" charset="1" panose="00000000000000000000"/>
      <p:regular r:id="rId36"/>
    </p:embeddedFont>
    <p:embeddedFont>
      <p:font typeface="Pompiere" charset="1" panose="020000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https://docs.google.com/spreadsheets/d/1DUF2isFWsqVSYhbaACYtbgcLi_YjDqpE3GLQIVgkKQg/edit#gid=69851113" TargetMode="External" Type="http://schemas.openxmlformats.org/officeDocument/2006/relationships/hyperlink"/><Relationship Id="rId7" Target="https://docs.google.com/spreadsheets/d/1DUF2isFWsqVSYhbaACYtbgcLi_YjDqpE3GLQIVgkKQg/edit#gid=69851113" TargetMode="External" Type="http://schemas.openxmlformats.org/officeDocument/2006/relationships/hyperlink"/><Relationship Id="rId8" Target="https://docs.google.com/spreadsheets/d/1DUF2isFWsqVSYhbaACYtbgcLi_YjDqpE3GLQIVgkKQg/edit#gid=69851113"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43.jpeg" Type="http://schemas.openxmlformats.org/officeDocument/2006/relationships/image"/><Relationship Id="rId13" Target="../media/image44.png" Type="http://schemas.openxmlformats.org/officeDocument/2006/relationships/image"/><Relationship Id="rId2" Target="../media/image37.png" Type="http://schemas.openxmlformats.org/officeDocument/2006/relationships/image"/><Relationship Id="rId3" Target="../media/image38.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47.png" Type="http://schemas.openxmlformats.org/officeDocument/2006/relationships/image"/><Relationship Id="rId13" Target="../media/image48.svg" Type="http://schemas.openxmlformats.org/officeDocument/2006/relationships/image"/><Relationship Id="rId14" Target="../media/image49.png" Type="http://schemas.openxmlformats.org/officeDocument/2006/relationships/image"/><Relationship Id="rId15" Target="../media/image50.svg" Type="http://schemas.openxmlformats.org/officeDocument/2006/relationships/image"/><Relationship Id="rId16" Target="../media/image51.png" Type="http://schemas.openxmlformats.org/officeDocument/2006/relationships/image"/><Relationship Id="rId17" Target="../media/image5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2" Target="../media/image54.png" Type="http://schemas.openxmlformats.org/officeDocument/2006/relationships/image"/><Relationship Id="rId3" Target="../media/image55.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png" Type="http://schemas.openxmlformats.org/officeDocument/2006/relationships/image"/><Relationship Id="rId11" Target="../media/image71.svg" Type="http://schemas.openxmlformats.org/officeDocument/2006/relationships/image"/><Relationship Id="rId2" Target="../media/image62.png" Type="http://schemas.openxmlformats.org/officeDocument/2006/relationships/image"/><Relationship Id="rId3" Target="../media/image63.svg" Type="http://schemas.openxmlformats.org/officeDocument/2006/relationships/image"/><Relationship Id="rId4" Target="../media/image64.png" Type="http://schemas.openxmlformats.org/officeDocument/2006/relationships/image"/><Relationship Id="rId5" Target="../media/image65.svg" Type="http://schemas.openxmlformats.org/officeDocument/2006/relationships/image"/><Relationship Id="rId6" Target="../media/image66.png" Type="http://schemas.openxmlformats.org/officeDocument/2006/relationships/image"/><Relationship Id="rId7" Target="../media/image67.svg" Type="http://schemas.openxmlformats.org/officeDocument/2006/relationships/image"/><Relationship Id="rId8" Target="../media/image68.png" Type="http://schemas.openxmlformats.org/officeDocument/2006/relationships/image"/><Relationship Id="rId9" Target="../media/image6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26993">
            <a:off x="9225956" y="3808839"/>
            <a:ext cx="18124088" cy="6479361"/>
          </a:xfrm>
          <a:custGeom>
            <a:avLst/>
            <a:gdLst/>
            <a:ahLst/>
            <a:cxnLst/>
            <a:rect r="r" b="b" t="t" l="l"/>
            <a:pathLst>
              <a:path h="6479361" w="18124088">
                <a:moveTo>
                  <a:pt x="0" y="0"/>
                </a:moveTo>
                <a:lnTo>
                  <a:pt x="18124088" y="0"/>
                </a:lnTo>
                <a:lnTo>
                  <a:pt x="18124088" y="6479361"/>
                </a:lnTo>
                <a:lnTo>
                  <a:pt x="0" y="64793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8646318">
            <a:off x="-6057344" y="-1148645"/>
            <a:ext cx="17767971" cy="6352050"/>
          </a:xfrm>
          <a:custGeom>
            <a:avLst/>
            <a:gdLst/>
            <a:ahLst/>
            <a:cxnLst/>
            <a:rect r="r" b="b" t="t" l="l"/>
            <a:pathLst>
              <a:path h="6352050" w="17767971">
                <a:moveTo>
                  <a:pt x="0" y="0"/>
                </a:moveTo>
                <a:lnTo>
                  <a:pt x="17767971" y="0"/>
                </a:lnTo>
                <a:lnTo>
                  <a:pt x="17767971" y="6352050"/>
                </a:lnTo>
                <a:lnTo>
                  <a:pt x="0" y="6352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884805">
            <a:off x="-2845931" y="4358439"/>
            <a:ext cx="5398896" cy="3798859"/>
          </a:xfrm>
          <a:custGeom>
            <a:avLst/>
            <a:gdLst/>
            <a:ahLst/>
            <a:cxnLst/>
            <a:rect r="r" b="b" t="t" l="l"/>
            <a:pathLst>
              <a:path h="3798859" w="5398896">
                <a:moveTo>
                  <a:pt x="0" y="0"/>
                </a:moveTo>
                <a:lnTo>
                  <a:pt x="5398896" y="0"/>
                </a:lnTo>
                <a:lnTo>
                  <a:pt x="5398896" y="3798859"/>
                </a:lnTo>
                <a:lnTo>
                  <a:pt x="0" y="37988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4444201">
            <a:off x="15490304" y="-1711517"/>
            <a:ext cx="3850935" cy="6139172"/>
          </a:xfrm>
          <a:custGeom>
            <a:avLst/>
            <a:gdLst/>
            <a:ahLst/>
            <a:cxnLst/>
            <a:rect r="r" b="b" t="t" l="l"/>
            <a:pathLst>
              <a:path h="6139172" w="3850935">
                <a:moveTo>
                  <a:pt x="0" y="0"/>
                </a:moveTo>
                <a:lnTo>
                  <a:pt x="3850935" y="0"/>
                </a:lnTo>
                <a:lnTo>
                  <a:pt x="3850935" y="6139173"/>
                </a:lnTo>
                <a:lnTo>
                  <a:pt x="0" y="61391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8133230" y="6902877"/>
            <a:ext cx="2672864" cy="743542"/>
          </a:xfrm>
          <a:custGeom>
            <a:avLst/>
            <a:gdLst/>
            <a:ahLst/>
            <a:cxnLst/>
            <a:rect r="r" b="b" t="t" l="l"/>
            <a:pathLst>
              <a:path h="743542" w="2672864">
                <a:moveTo>
                  <a:pt x="0" y="0"/>
                </a:moveTo>
                <a:lnTo>
                  <a:pt x="2672864" y="0"/>
                </a:lnTo>
                <a:lnTo>
                  <a:pt x="2672864" y="743543"/>
                </a:lnTo>
                <a:lnTo>
                  <a:pt x="0" y="74354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2932382" y="3054725"/>
            <a:ext cx="12046559" cy="3793570"/>
          </a:xfrm>
          <a:prstGeom prst="rect">
            <a:avLst/>
          </a:prstGeom>
        </p:spPr>
        <p:txBody>
          <a:bodyPr anchor="t" rtlCol="false" tIns="0" lIns="0" bIns="0" rIns="0">
            <a:spAutoFit/>
          </a:bodyPr>
          <a:lstStyle/>
          <a:p>
            <a:pPr algn="ctr">
              <a:lnSpc>
                <a:spcPts val="9884"/>
              </a:lnSpc>
            </a:pPr>
            <a:r>
              <a:rPr lang="en-US" sz="9503" spc="285">
                <a:solidFill>
                  <a:srgbClr val="000000"/>
                </a:solidFill>
                <a:latin typeface="Marykate"/>
                <a:ea typeface="Marykate"/>
                <a:cs typeface="Marykate"/>
                <a:sym typeface="Marykate"/>
              </a:rPr>
              <a:t>MARKET TRENDS IN INDIAN AGRICULTURE: A STATISTICAL PERSPECTIVE</a:t>
            </a:r>
          </a:p>
        </p:txBody>
      </p:sp>
      <p:sp>
        <p:nvSpPr>
          <p:cNvPr name="Freeform 8" id="8"/>
          <p:cNvSpPr/>
          <p:nvPr/>
        </p:nvSpPr>
        <p:spPr>
          <a:xfrm flipH="false" flipV="false" rot="2700000">
            <a:off x="12400670" y="1017133"/>
            <a:ext cx="2534855" cy="1609633"/>
          </a:xfrm>
          <a:custGeom>
            <a:avLst/>
            <a:gdLst/>
            <a:ahLst/>
            <a:cxnLst/>
            <a:rect r="r" b="b" t="t" l="l"/>
            <a:pathLst>
              <a:path h="1609633" w="2534855">
                <a:moveTo>
                  <a:pt x="0" y="0"/>
                </a:moveTo>
                <a:lnTo>
                  <a:pt x="2534855" y="0"/>
                </a:lnTo>
                <a:lnTo>
                  <a:pt x="2534855" y="1609633"/>
                </a:lnTo>
                <a:lnTo>
                  <a:pt x="0" y="160963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8364654">
            <a:off x="2493162" y="7237342"/>
            <a:ext cx="2676520" cy="1699590"/>
          </a:xfrm>
          <a:custGeom>
            <a:avLst/>
            <a:gdLst/>
            <a:ahLst/>
            <a:cxnLst/>
            <a:rect r="r" b="b" t="t" l="l"/>
            <a:pathLst>
              <a:path h="1699590" w="2676520">
                <a:moveTo>
                  <a:pt x="0" y="0"/>
                </a:moveTo>
                <a:lnTo>
                  <a:pt x="2676519" y="0"/>
                </a:lnTo>
                <a:lnTo>
                  <a:pt x="2676519" y="1699590"/>
                </a:lnTo>
                <a:lnTo>
                  <a:pt x="0" y="169959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700530">
            <a:off x="12562111" y="8981043"/>
            <a:ext cx="626416" cy="772486"/>
          </a:xfrm>
          <a:custGeom>
            <a:avLst/>
            <a:gdLst/>
            <a:ahLst/>
            <a:cxnLst/>
            <a:rect r="r" b="b" t="t" l="l"/>
            <a:pathLst>
              <a:path h="772486" w="626416">
                <a:moveTo>
                  <a:pt x="0" y="0"/>
                </a:moveTo>
                <a:lnTo>
                  <a:pt x="626416" y="0"/>
                </a:lnTo>
                <a:lnTo>
                  <a:pt x="626416" y="772487"/>
                </a:lnTo>
                <a:lnTo>
                  <a:pt x="0" y="77248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273862">
            <a:off x="11482950" y="8611703"/>
            <a:ext cx="805334" cy="993125"/>
          </a:xfrm>
          <a:custGeom>
            <a:avLst/>
            <a:gdLst/>
            <a:ahLst/>
            <a:cxnLst/>
            <a:rect r="r" b="b" t="t" l="l"/>
            <a:pathLst>
              <a:path h="993125" w="805334">
                <a:moveTo>
                  <a:pt x="0" y="0"/>
                </a:moveTo>
                <a:lnTo>
                  <a:pt x="805334" y="0"/>
                </a:lnTo>
                <a:lnTo>
                  <a:pt x="805334" y="993125"/>
                </a:lnTo>
                <a:lnTo>
                  <a:pt x="0" y="99312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859417">
            <a:off x="2823845" y="1183337"/>
            <a:ext cx="1410590" cy="1277225"/>
          </a:xfrm>
          <a:custGeom>
            <a:avLst/>
            <a:gdLst/>
            <a:ahLst/>
            <a:cxnLst/>
            <a:rect r="r" b="b" t="t" l="l"/>
            <a:pathLst>
              <a:path h="1277225" w="1410590">
                <a:moveTo>
                  <a:pt x="0" y="0"/>
                </a:moveTo>
                <a:lnTo>
                  <a:pt x="1410590" y="0"/>
                </a:lnTo>
                <a:lnTo>
                  <a:pt x="1410590" y="1277225"/>
                </a:lnTo>
                <a:lnTo>
                  <a:pt x="0" y="127722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3041556">
            <a:off x="-2901462" y="1442766"/>
            <a:ext cx="5802923" cy="4114800"/>
          </a:xfrm>
          <a:custGeom>
            <a:avLst/>
            <a:gdLst/>
            <a:ahLst/>
            <a:cxnLst/>
            <a:rect r="r" b="b" t="t" l="l"/>
            <a:pathLst>
              <a:path h="4114800" w="5802923">
                <a:moveTo>
                  <a:pt x="0" y="0"/>
                </a:moveTo>
                <a:lnTo>
                  <a:pt x="5802924" y="0"/>
                </a:lnTo>
                <a:lnTo>
                  <a:pt x="5802924"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4" id="14"/>
          <p:cNvSpPr/>
          <p:nvPr/>
        </p:nvSpPr>
        <p:spPr>
          <a:xfrm flipH="true" flipV="false" rot="0">
            <a:off x="16230796" y="7274649"/>
            <a:ext cx="1410590" cy="1277225"/>
          </a:xfrm>
          <a:custGeom>
            <a:avLst/>
            <a:gdLst/>
            <a:ahLst/>
            <a:cxnLst/>
            <a:rect r="r" b="b" t="t" l="l"/>
            <a:pathLst>
              <a:path h="1277225" w="1410590">
                <a:moveTo>
                  <a:pt x="1410590" y="0"/>
                </a:moveTo>
                <a:lnTo>
                  <a:pt x="0" y="0"/>
                </a:lnTo>
                <a:lnTo>
                  <a:pt x="0" y="1277225"/>
                </a:lnTo>
                <a:lnTo>
                  <a:pt x="1410590" y="1277225"/>
                </a:lnTo>
                <a:lnTo>
                  <a:pt x="141059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5" id="15"/>
          <p:cNvSpPr/>
          <p:nvPr/>
        </p:nvSpPr>
        <p:spPr>
          <a:xfrm flipH="true" flipV="false" rot="4052048">
            <a:off x="17044632" y="8500949"/>
            <a:ext cx="5802923" cy="4114800"/>
          </a:xfrm>
          <a:custGeom>
            <a:avLst/>
            <a:gdLst/>
            <a:ahLst/>
            <a:cxnLst/>
            <a:rect r="r" b="b" t="t" l="l"/>
            <a:pathLst>
              <a:path h="4114800" w="5802923">
                <a:moveTo>
                  <a:pt x="5802923" y="0"/>
                </a:moveTo>
                <a:lnTo>
                  <a:pt x="0" y="0"/>
                </a:lnTo>
                <a:lnTo>
                  <a:pt x="0" y="4114800"/>
                </a:lnTo>
                <a:lnTo>
                  <a:pt x="5802923" y="4114800"/>
                </a:lnTo>
                <a:lnTo>
                  <a:pt x="5802923"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Abstract Halftone Line Squiggle Illustration"/>
          <p:cNvSpPr/>
          <p:nvPr/>
        </p:nvSpPr>
        <p:spPr>
          <a:xfrm flipH="false" flipV="false" rot="6884805">
            <a:off x="-2384819" y="476141"/>
            <a:ext cx="4711045" cy="3314863"/>
          </a:xfrm>
          <a:custGeom>
            <a:avLst/>
            <a:gdLst/>
            <a:ahLst/>
            <a:cxnLst/>
            <a:rect r="r" b="b" t="t" l="l"/>
            <a:pathLst>
              <a:path h="3314863" w="4711045">
                <a:moveTo>
                  <a:pt x="0" y="0"/>
                </a:moveTo>
                <a:lnTo>
                  <a:pt x="4711045" y="0"/>
                </a:lnTo>
                <a:lnTo>
                  <a:pt x="4711045" y="3314863"/>
                </a:lnTo>
                <a:lnTo>
                  <a:pt x="0" y="33148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descr="Abstract Halftone Stretched Line"/>
          <p:cNvSpPr/>
          <p:nvPr/>
        </p:nvSpPr>
        <p:spPr>
          <a:xfrm flipH="false" flipV="false" rot="-3907433">
            <a:off x="16118318" y="-934995"/>
            <a:ext cx="3363338" cy="5361844"/>
          </a:xfrm>
          <a:custGeom>
            <a:avLst/>
            <a:gdLst/>
            <a:ahLst/>
            <a:cxnLst/>
            <a:rect r="r" b="b" t="t" l="l"/>
            <a:pathLst>
              <a:path h="5361844" w="3363338">
                <a:moveTo>
                  <a:pt x="0" y="0"/>
                </a:moveTo>
                <a:lnTo>
                  <a:pt x="3363338" y="0"/>
                </a:lnTo>
                <a:lnTo>
                  <a:pt x="3363338" y="5361844"/>
                </a:lnTo>
                <a:lnTo>
                  <a:pt x="0" y="53618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rot="0">
            <a:off x="1028700" y="7574380"/>
            <a:ext cx="16230600" cy="0"/>
          </a:xfrm>
          <a:prstGeom prst="line">
            <a:avLst/>
          </a:prstGeom>
          <a:ln cap="rnd" w="28575">
            <a:solidFill>
              <a:srgbClr val="F46530"/>
            </a:solidFill>
            <a:prstDash val="solid"/>
            <a:headEnd type="none" len="sm" w="sm"/>
            <a:tailEnd type="none" len="sm" w="sm"/>
          </a:ln>
        </p:spPr>
      </p:sp>
      <p:sp>
        <p:nvSpPr>
          <p:cNvPr name="AutoShape 5" id="5"/>
          <p:cNvSpPr/>
          <p:nvPr/>
        </p:nvSpPr>
        <p:spPr>
          <a:xfrm rot="0">
            <a:off x="1028700" y="2684045"/>
            <a:ext cx="16230600" cy="0"/>
          </a:xfrm>
          <a:prstGeom prst="line">
            <a:avLst/>
          </a:prstGeom>
          <a:ln cap="rnd" w="28575">
            <a:solidFill>
              <a:srgbClr val="F46530"/>
            </a:solidFill>
            <a:prstDash val="solid"/>
            <a:headEnd type="none" len="sm" w="sm"/>
            <a:tailEnd type="none" len="sm" w="sm"/>
          </a:ln>
        </p:spPr>
      </p:sp>
      <p:sp>
        <p:nvSpPr>
          <p:cNvPr name="TextBox 6" id="6"/>
          <p:cNvSpPr txBox="true"/>
          <p:nvPr/>
        </p:nvSpPr>
        <p:spPr>
          <a:xfrm rot="0">
            <a:off x="1028700" y="4500562"/>
            <a:ext cx="6985638" cy="1285875"/>
          </a:xfrm>
          <a:prstGeom prst="rect">
            <a:avLst/>
          </a:prstGeom>
        </p:spPr>
        <p:txBody>
          <a:bodyPr anchor="t" rtlCol="false" tIns="0" lIns="0" bIns="0" rIns="0">
            <a:spAutoFit/>
          </a:bodyPr>
          <a:lstStyle/>
          <a:p>
            <a:pPr algn="l" marL="0" indent="0" lvl="0">
              <a:lnSpc>
                <a:spcPts val="10199"/>
              </a:lnSpc>
            </a:pPr>
            <a:r>
              <a:rPr lang="en-US" sz="8499" spc="-169">
                <a:solidFill>
                  <a:srgbClr val="2A2E30"/>
                </a:solidFill>
                <a:latin typeface="Arsenal"/>
                <a:ea typeface="Arsenal"/>
                <a:cs typeface="Arsenal"/>
                <a:sym typeface="Arsenal"/>
              </a:rPr>
              <a:t>Prepared By</a:t>
            </a:r>
          </a:p>
        </p:txBody>
      </p:sp>
      <p:sp>
        <p:nvSpPr>
          <p:cNvPr name="TextBox 7" id="7"/>
          <p:cNvSpPr txBox="true"/>
          <p:nvPr/>
        </p:nvSpPr>
        <p:spPr>
          <a:xfrm rot="0">
            <a:off x="8164533" y="3946732"/>
            <a:ext cx="9071913" cy="2157383"/>
          </a:xfrm>
          <a:prstGeom prst="rect">
            <a:avLst/>
          </a:prstGeom>
        </p:spPr>
        <p:txBody>
          <a:bodyPr anchor="t" rtlCol="false" tIns="0" lIns="0" bIns="0" rIns="0">
            <a:spAutoFit/>
          </a:bodyPr>
          <a:lstStyle/>
          <a:p>
            <a:pPr algn="l" marL="836781" indent="-418391" lvl="1">
              <a:lnSpc>
                <a:spcPts val="5813"/>
              </a:lnSpc>
              <a:buAutoNum type="arabicPeriod" startAt="1"/>
            </a:pPr>
            <a:r>
              <a:rPr lang="en-US" sz="3875">
                <a:solidFill>
                  <a:srgbClr val="2A2E30"/>
                </a:solidFill>
                <a:latin typeface="Dekko"/>
                <a:ea typeface="Dekko"/>
                <a:cs typeface="Dekko"/>
                <a:sym typeface="Dekko"/>
                <a:hlinkClick r:id="rId6" tooltip="https://docs.google.com/spreadsheets/d/1DUF2isFWsqVSYhbaACYtbgcLi_YjDqpE3GLQIVgkKQg/edit#gid=69851113"/>
              </a:rPr>
              <a:t>Alina George </a:t>
            </a:r>
            <a:r>
              <a:rPr lang="en-US" sz="3875">
                <a:solidFill>
                  <a:srgbClr val="2A2E30"/>
                </a:solidFill>
                <a:latin typeface="Dekko"/>
                <a:ea typeface="Dekko"/>
                <a:cs typeface="Dekko"/>
                <a:sym typeface="Dekko"/>
              </a:rPr>
              <a:t>(81323004)</a:t>
            </a:r>
          </a:p>
          <a:p>
            <a:pPr algn="l" marL="836781" indent="-418391" lvl="1">
              <a:lnSpc>
                <a:spcPts val="5813"/>
              </a:lnSpc>
              <a:buAutoNum type="arabicPeriod" startAt="1"/>
            </a:pPr>
            <a:r>
              <a:rPr lang="en-US" sz="3875">
                <a:solidFill>
                  <a:srgbClr val="2A2E30"/>
                </a:solidFill>
                <a:latin typeface="Dekko"/>
                <a:ea typeface="Dekko"/>
                <a:cs typeface="Dekko"/>
                <a:sym typeface="Dekko"/>
                <a:hlinkClick r:id="rId7" tooltip="https://docs.google.com/spreadsheets/d/1DUF2isFWsqVSYhbaACYtbgcLi_YjDqpE3GLQIVgkKQg/edit#gid=69851113"/>
              </a:rPr>
              <a:t>Muhannad Mohammad Ali (81323015)</a:t>
            </a:r>
          </a:p>
          <a:p>
            <a:pPr algn="l" marL="836781" indent="-418391" lvl="1">
              <a:lnSpc>
                <a:spcPts val="5813"/>
              </a:lnSpc>
              <a:buAutoNum type="arabicPeriod" startAt="1"/>
            </a:pPr>
            <a:r>
              <a:rPr lang="en-US" sz="3875">
                <a:solidFill>
                  <a:srgbClr val="2A2E30"/>
                </a:solidFill>
                <a:latin typeface="Dekko"/>
                <a:ea typeface="Dekko"/>
                <a:cs typeface="Dekko"/>
                <a:sym typeface="Dekko"/>
                <a:hlinkClick r:id="rId8" tooltip="https://docs.google.com/spreadsheets/d/1DUF2isFWsqVSYhbaACYtbgcLi_YjDqpE3GLQIVgkKQg/edit#gid=69851113"/>
              </a:rPr>
              <a:t>Snehal P (81323021)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7E7CD4"/>
        </a:solidFill>
      </p:bgPr>
    </p:bg>
    <p:spTree>
      <p:nvGrpSpPr>
        <p:cNvPr id="1" name=""/>
        <p:cNvGrpSpPr/>
        <p:nvPr/>
      </p:nvGrpSpPr>
      <p:grpSpPr>
        <a:xfrm>
          <a:off x="0" y="0"/>
          <a:ext cx="0" cy="0"/>
          <a:chOff x="0" y="0"/>
          <a:chExt cx="0" cy="0"/>
        </a:xfrm>
      </p:grpSpPr>
      <p:sp>
        <p:nvSpPr>
          <p:cNvPr name="Freeform 2" id="2"/>
          <p:cNvSpPr/>
          <p:nvPr/>
        </p:nvSpPr>
        <p:spPr>
          <a:xfrm flipH="true" flipV="false" rot="-4989283">
            <a:off x="8802838" y="8485140"/>
            <a:ext cx="14550492" cy="5201801"/>
          </a:xfrm>
          <a:custGeom>
            <a:avLst/>
            <a:gdLst/>
            <a:ahLst/>
            <a:cxnLst/>
            <a:rect r="r" b="b" t="t" l="l"/>
            <a:pathLst>
              <a:path h="5201801" w="14550492">
                <a:moveTo>
                  <a:pt x="14550492" y="0"/>
                </a:moveTo>
                <a:lnTo>
                  <a:pt x="0" y="0"/>
                </a:lnTo>
                <a:lnTo>
                  <a:pt x="0" y="5201801"/>
                </a:lnTo>
                <a:lnTo>
                  <a:pt x="14550492" y="5201801"/>
                </a:lnTo>
                <a:lnTo>
                  <a:pt x="1455049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48310" y="1677651"/>
            <a:ext cx="8991380" cy="6915189"/>
          </a:xfrm>
          <a:custGeom>
            <a:avLst/>
            <a:gdLst/>
            <a:ahLst/>
            <a:cxnLst/>
            <a:rect r="r" b="b" t="t" l="l"/>
            <a:pathLst>
              <a:path h="6915189" w="8991380">
                <a:moveTo>
                  <a:pt x="0" y="0"/>
                </a:moveTo>
                <a:lnTo>
                  <a:pt x="8991380" y="0"/>
                </a:lnTo>
                <a:lnTo>
                  <a:pt x="8991380" y="6915189"/>
                </a:lnTo>
                <a:lnTo>
                  <a:pt x="0" y="69151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782385" y="2055877"/>
            <a:ext cx="10723229" cy="1486527"/>
          </a:xfrm>
          <a:prstGeom prst="rect">
            <a:avLst/>
          </a:prstGeom>
        </p:spPr>
        <p:txBody>
          <a:bodyPr anchor="t" rtlCol="false" tIns="0" lIns="0" bIns="0" rIns="0">
            <a:spAutoFit/>
          </a:bodyPr>
          <a:lstStyle/>
          <a:p>
            <a:pPr algn="ctr">
              <a:lnSpc>
                <a:spcPts val="12040"/>
              </a:lnSpc>
              <a:spcBef>
                <a:spcPct val="0"/>
              </a:spcBef>
            </a:pPr>
            <a:r>
              <a:rPr lang="en-US" sz="8600" spc="283">
                <a:solidFill>
                  <a:srgbClr val="000000"/>
                </a:solidFill>
                <a:latin typeface="Marykate"/>
                <a:ea typeface="Marykate"/>
                <a:cs typeface="Marykate"/>
                <a:sym typeface="Marykate"/>
              </a:rPr>
              <a:t>INTRODUCTION</a:t>
            </a:r>
          </a:p>
        </p:txBody>
      </p:sp>
      <p:sp>
        <p:nvSpPr>
          <p:cNvPr name="Freeform 5" id="5"/>
          <p:cNvSpPr/>
          <p:nvPr/>
        </p:nvSpPr>
        <p:spPr>
          <a:xfrm flipH="false" flipV="false" rot="9564750">
            <a:off x="-11117826" y="25266"/>
            <a:ext cx="19733662" cy="7054784"/>
          </a:xfrm>
          <a:custGeom>
            <a:avLst/>
            <a:gdLst/>
            <a:ahLst/>
            <a:cxnLst/>
            <a:rect r="r" b="b" t="t" l="l"/>
            <a:pathLst>
              <a:path h="7054784" w="19733662">
                <a:moveTo>
                  <a:pt x="0" y="0"/>
                </a:moveTo>
                <a:lnTo>
                  <a:pt x="19733662" y="0"/>
                </a:lnTo>
                <a:lnTo>
                  <a:pt x="19733662" y="7054784"/>
                </a:lnTo>
                <a:lnTo>
                  <a:pt x="0" y="70547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65901">
            <a:off x="8183874" y="1938877"/>
            <a:ext cx="938504" cy="595950"/>
          </a:xfrm>
          <a:custGeom>
            <a:avLst/>
            <a:gdLst/>
            <a:ahLst/>
            <a:cxnLst/>
            <a:rect r="r" b="b" t="t" l="l"/>
            <a:pathLst>
              <a:path h="595950" w="938504">
                <a:moveTo>
                  <a:pt x="0" y="0"/>
                </a:moveTo>
                <a:lnTo>
                  <a:pt x="938504" y="0"/>
                </a:lnTo>
                <a:lnTo>
                  <a:pt x="938504" y="595950"/>
                </a:lnTo>
                <a:lnTo>
                  <a:pt x="0" y="5959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05206">
            <a:off x="-2225973" y="-247916"/>
            <a:ext cx="6509346" cy="7601148"/>
          </a:xfrm>
          <a:custGeom>
            <a:avLst/>
            <a:gdLst/>
            <a:ahLst/>
            <a:cxnLst/>
            <a:rect r="r" b="b" t="t" l="l"/>
            <a:pathLst>
              <a:path h="7601148" w="6509346">
                <a:moveTo>
                  <a:pt x="0" y="0"/>
                </a:moveTo>
                <a:lnTo>
                  <a:pt x="6509346" y="0"/>
                </a:lnTo>
                <a:lnTo>
                  <a:pt x="6509346" y="7601148"/>
                </a:lnTo>
                <a:lnTo>
                  <a:pt x="0" y="760114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5459000" y="3631251"/>
            <a:ext cx="7370000" cy="513334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Poppins Medium"/>
                <a:ea typeface="Poppins Medium"/>
                <a:cs typeface="Poppins Medium"/>
                <a:sym typeface="Poppins Medium"/>
              </a:rPr>
              <a:t>This project involves conducting statistical analysis on agricultural market data collected from various states and districts across India. The dataset includes key variables such as the name of the state, district, and market, along with details about the commodity and its variety. It also captures important market indicators including arrival quantity, minimum price, maximum price, and modal price. By analyzing these variables, the project aims to identify pricing patterns, regional trends, and market behavior that can support better decision-making in agricultural planning and policy.</a:t>
            </a:r>
          </a:p>
          <a:p>
            <a:pPr algn="ctr">
              <a:lnSpc>
                <a:spcPts val="2940"/>
              </a:lnSpc>
              <a:spcBef>
                <a:spcPct val="0"/>
              </a:spcBef>
            </a:pPr>
          </a:p>
          <a:p>
            <a:pPr algn="ctr">
              <a:lnSpc>
                <a:spcPts val="2380"/>
              </a:lnSpc>
              <a:spcBef>
                <a:spcPct val="0"/>
              </a:spcBef>
            </a:pPr>
          </a:p>
        </p:txBody>
      </p:sp>
      <p:sp>
        <p:nvSpPr>
          <p:cNvPr name="Freeform 9" id="9"/>
          <p:cNvSpPr/>
          <p:nvPr/>
        </p:nvSpPr>
        <p:spPr>
          <a:xfrm flipH="true" flipV="false" rot="0">
            <a:off x="14925350" y="1212462"/>
            <a:ext cx="1410590" cy="1277225"/>
          </a:xfrm>
          <a:custGeom>
            <a:avLst/>
            <a:gdLst/>
            <a:ahLst/>
            <a:cxnLst/>
            <a:rect r="r" b="b" t="t" l="l"/>
            <a:pathLst>
              <a:path h="1277225" w="1410590">
                <a:moveTo>
                  <a:pt x="1410590" y="0"/>
                </a:moveTo>
                <a:lnTo>
                  <a:pt x="0" y="0"/>
                </a:lnTo>
                <a:lnTo>
                  <a:pt x="0" y="1277225"/>
                </a:lnTo>
                <a:lnTo>
                  <a:pt x="1410590" y="1277225"/>
                </a:lnTo>
                <a:lnTo>
                  <a:pt x="141059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true" flipV="false" rot="4052048">
            <a:off x="15739186" y="2438762"/>
            <a:ext cx="5802923" cy="4114800"/>
          </a:xfrm>
          <a:custGeom>
            <a:avLst/>
            <a:gdLst/>
            <a:ahLst/>
            <a:cxnLst/>
            <a:rect r="r" b="b" t="t" l="l"/>
            <a:pathLst>
              <a:path h="4114800" w="5802923">
                <a:moveTo>
                  <a:pt x="5802923" y="0"/>
                </a:moveTo>
                <a:lnTo>
                  <a:pt x="0" y="0"/>
                </a:lnTo>
                <a:lnTo>
                  <a:pt x="0" y="4114800"/>
                </a:lnTo>
                <a:lnTo>
                  <a:pt x="5802923" y="4114800"/>
                </a:lnTo>
                <a:lnTo>
                  <a:pt x="5802923"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462126">
            <a:off x="2371795" y="4829439"/>
            <a:ext cx="1410590" cy="1277225"/>
          </a:xfrm>
          <a:custGeom>
            <a:avLst/>
            <a:gdLst/>
            <a:ahLst/>
            <a:cxnLst/>
            <a:rect r="r" b="b" t="t" l="l"/>
            <a:pathLst>
              <a:path h="1277225" w="1410590">
                <a:moveTo>
                  <a:pt x="0" y="0"/>
                </a:moveTo>
                <a:lnTo>
                  <a:pt x="1410590" y="0"/>
                </a:lnTo>
                <a:lnTo>
                  <a:pt x="1410590" y="1277225"/>
                </a:lnTo>
                <a:lnTo>
                  <a:pt x="0" y="12772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true" flipV="true" rot="6289381">
            <a:off x="-2555595" y="6409101"/>
            <a:ext cx="5802923" cy="4114800"/>
          </a:xfrm>
          <a:custGeom>
            <a:avLst/>
            <a:gdLst/>
            <a:ahLst/>
            <a:cxnLst/>
            <a:rect r="r" b="b" t="t" l="l"/>
            <a:pathLst>
              <a:path h="4114800" w="5802923">
                <a:moveTo>
                  <a:pt x="5802923" y="4114800"/>
                </a:moveTo>
                <a:lnTo>
                  <a:pt x="0" y="4114800"/>
                </a:lnTo>
                <a:lnTo>
                  <a:pt x="0" y="0"/>
                </a:lnTo>
                <a:lnTo>
                  <a:pt x="5802923" y="0"/>
                </a:lnTo>
                <a:lnTo>
                  <a:pt x="5802923" y="411480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7E7CD4"/>
        </a:solidFill>
      </p:bgPr>
    </p:bg>
    <p:spTree>
      <p:nvGrpSpPr>
        <p:cNvPr id="1" name=""/>
        <p:cNvGrpSpPr/>
        <p:nvPr/>
      </p:nvGrpSpPr>
      <p:grpSpPr>
        <a:xfrm>
          <a:off x="0" y="0"/>
          <a:ext cx="0" cy="0"/>
          <a:chOff x="0" y="0"/>
          <a:chExt cx="0" cy="0"/>
        </a:xfrm>
      </p:grpSpPr>
      <p:sp>
        <p:nvSpPr>
          <p:cNvPr name="Freeform 2" id="2"/>
          <p:cNvSpPr/>
          <p:nvPr/>
        </p:nvSpPr>
        <p:spPr>
          <a:xfrm flipH="false" flipV="false" rot="-342311">
            <a:off x="9453317" y="4596172"/>
            <a:ext cx="20226327" cy="7230912"/>
          </a:xfrm>
          <a:custGeom>
            <a:avLst/>
            <a:gdLst/>
            <a:ahLst/>
            <a:cxnLst/>
            <a:rect r="r" b="b" t="t" l="l"/>
            <a:pathLst>
              <a:path h="7230912" w="20226327">
                <a:moveTo>
                  <a:pt x="0" y="0"/>
                </a:moveTo>
                <a:lnTo>
                  <a:pt x="20226327" y="0"/>
                </a:lnTo>
                <a:lnTo>
                  <a:pt x="20226327" y="7230912"/>
                </a:lnTo>
                <a:lnTo>
                  <a:pt x="0" y="72309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078979">
            <a:off x="-6227859" y="-3800063"/>
            <a:ext cx="19733662" cy="7054784"/>
          </a:xfrm>
          <a:custGeom>
            <a:avLst/>
            <a:gdLst/>
            <a:ahLst/>
            <a:cxnLst/>
            <a:rect r="r" b="b" t="t" l="l"/>
            <a:pathLst>
              <a:path h="7054784" w="19733662">
                <a:moveTo>
                  <a:pt x="0" y="0"/>
                </a:moveTo>
                <a:lnTo>
                  <a:pt x="19733662" y="0"/>
                </a:lnTo>
                <a:lnTo>
                  <a:pt x="19733662" y="7054784"/>
                </a:lnTo>
                <a:lnTo>
                  <a:pt x="0" y="70547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397477" y="2716561"/>
            <a:ext cx="4150230" cy="4720353"/>
          </a:xfrm>
          <a:custGeom>
            <a:avLst/>
            <a:gdLst/>
            <a:ahLst/>
            <a:cxnLst/>
            <a:rect r="r" b="b" t="t" l="l"/>
            <a:pathLst>
              <a:path h="4720353" w="4150230">
                <a:moveTo>
                  <a:pt x="0" y="0"/>
                </a:moveTo>
                <a:lnTo>
                  <a:pt x="4150230" y="0"/>
                </a:lnTo>
                <a:lnTo>
                  <a:pt x="4150230" y="4720353"/>
                </a:lnTo>
                <a:lnTo>
                  <a:pt x="0" y="4720353"/>
                </a:lnTo>
                <a:lnTo>
                  <a:pt x="0" y="0"/>
                </a:lnTo>
                <a:close/>
              </a:path>
            </a:pathLst>
          </a:custGeom>
          <a:blipFill>
            <a:blip r:embed="rId6">
              <a:extLst>
                <a:ext uri="{96DAC541-7B7A-43D3-8B79-37D633B846F1}">
                  <asvg:svgBlip xmlns:asvg="http://schemas.microsoft.com/office/drawing/2016/SVG/main" r:embed="rId7"/>
                </a:ext>
              </a:extLst>
            </a:blip>
            <a:stretch>
              <a:fillRect l="0" t="-6568" r="-57598" b="0"/>
            </a:stretch>
          </a:blipFill>
        </p:spPr>
      </p:sp>
      <p:sp>
        <p:nvSpPr>
          <p:cNvPr name="Freeform 5" id="5"/>
          <p:cNvSpPr/>
          <p:nvPr/>
        </p:nvSpPr>
        <p:spPr>
          <a:xfrm flipH="false" flipV="false" rot="0">
            <a:off x="9928359" y="2716561"/>
            <a:ext cx="3779880" cy="4292239"/>
          </a:xfrm>
          <a:custGeom>
            <a:avLst/>
            <a:gdLst/>
            <a:ahLst/>
            <a:cxnLst/>
            <a:rect r="r" b="b" t="t" l="l"/>
            <a:pathLst>
              <a:path h="4292239" w="3779880">
                <a:moveTo>
                  <a:pt x="0" y="0"/>
                </a:moveTo>
                <a:lnTo>
                  <a:pt x="3779880" y="0"/>
                </a:lnTo>
                <a:lnTo>
                  <a:pt x="3779880" y="4292240"/>
                </a:lnTo>
                <a:lnTo>
                  <a:pt x="0" y="4292240"/>
                </a:lnTo>
                <a:lnTo>
                  <a:pt x="0" y="0"/>
                </a:lnTo>
                <a:close/>
              </a:path>
            </a:pathLst>
          </a:custGeom>
          <a:blipFill>
            <a:blip r:embed="rId6">
              <a:extLst>
                <a:ext uri="{96DAC541-7B7A-43D3-8B79-37D633B846F1}">
                  <asvg:svgBlip xmlns:asvg="http://schemas.microsoft.com/office/drawing/2016/SVG/main" r:embed="rId7"/>
                </a:ext>
              </a:extLst>
            </a:blip>
            <a:stretch>
              <a:fillRect l="0" t="-6568" r="-57346" b="0"/>
            </a:stretch>
          </a:blipFill>
        </p:spPr>
      </p:sp>
      <p:sp>
        <p:nvSpPr>
          <p:cNvPr name="Freeform 6" id="6"/>
          <p:cNvSpPr/>
          <p:nvPr/>
        </p:nvSpPr>
        <p:spPr>
          <a:xfrm flipH="false" flipV="false" rot="0">
            <a:off x="760300" y="1687759"/>
            <a:ext cx="4256525" cy="4832210"/>
          </a:xfrm>
          <a:custGeom>
            <a:avLst/>
            <a:gdLst/>
            <a:ahLst/>
            <a:cxnLst/>
            <a:rect r="r" b="b" t="t" l="l"/>
            <a:pathLst>
              <a:path h="4832210" w="4256525">
                <a:moveTo>
                  <a:pt x="0" y="0"/>
                </a:moveTo>
                <a:lnTo>
                  <a:pt x="4256525" y="0"/>
                </a:lnTo>
                <a:lnTo>
                  <a:pt x="4256525" y="4832210"/>
                </a:lnTo>
                <a:lnTo>
                  <a:pt x="0" y="4832210"/>
                </a:lnTo>
                <a:lnTo>
                  <a:pt x="0" y="0"/>
                </a:lnTo>
                <a:close/>
              </a:path>
            </a:pathLst>
          </a:custGeom>
          <a:blipFill>
            <a:blip r:embed="rId6">
              <a:extLst>
                <a:ext uri="{96DAC541-7B7A-43D3-8B79-37D633B846F1}">
                  <asvg:svgBlip xmlns:asvg="http://schemas.microsoft.com/office/drawing/2016/SVG/main" r:embed="rId7"/>
                </a:ext>
              </a:extLst>
            </a:blip>
            <a:stretch>
              <a:fillRect l="0" t="-7430" r="-58576" b="0"/>
            </a:stretch>
          </a:blipFill>
        </p:spPr>
      </p:sp>
      <p:sp>
        <p:nvSpPr>
          <p:cNvPr name="Freeform 7" id="7"/>
          <p:cNvSpPr/>
          <p:nvPr/>
        </p:nvSpPr>
        <p:spPr>
          <a:xfrm flipH="false" flipV="false" rot="878822">
            <a:off x="16176098" y="213059"/>
            <a:ext cx="4223805" cy="2972023"/>
          </a:xfrm>
          <a:custGeom>
            <a:avLst/>
            <a:gdLst/>
            <a:ahLst/>
            <a:cxnLst/>
            <a:rect r="r" b="b" t="t" l="l"/>
            <a:pathLst>
              <a:path h="2972023" w="4223805">
                <a:moveTo>
                  <a:pt x="0" y="0"/>
                </a:moveTo>
                <a:lnTo>
                  <a:pt x="4223804" y="0"/>
                </a:lnTo>
                <a:lnTo>
                  <a:pt x="4223804" y="2972023"/>
                </a:lnTo>
                <a:lnTo>
                  <a:pt x="0" y="29720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2881452">
            <a:off x="-1566174" y="4752233"/>
            <a:ext cx="3850935" cy="6139172"/>
          </a:xfrm>
          <a:custGeom>
            <a:avLst/>
            <a:gdLst/>
            <a:ahLst/>
            <a:cxnLst/>
            <a:rect r="r" b="b" t="t" l="l"/>
            <a:pathLst>
              <a:path h="6139172" w="3850935">
                <a:moveTo>
                  <a:pt x="0" y="0"/>
                </a:moveTo>
                <a:lnTo>
                  <a:pt x="3850936" y="0"/>
                </a:lnTo>
                <a:lnTo>
                  <a:pt x="3850936" y="6139173"/>
                </a:lnTo>
                <a:lnTo>
                  <a:pt x="0" y="61391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3037602" y="55991"/>
            <a:ext cx="12001314" cy="873108"/>
          </a:xfrm>
          <a:prstGeom prst="rect">
            <a:avLst/>
          </a:prstGeom>
        </p:spPr>
        <p:txBody>
          <a:bodyPr anchor="t" rtlCol="false" tIns="0" lIns="0" bIns="0" rIns="0">
            <a:spAutoFit/>
          </a:bodyPr>
          <a:lstStyle/>
          <a:p>
            <a:pPr algn="ctr" marL="0" indent="0" lvl="0">
              <a:lnSpc>
                <a:spcPts val="7000"/>
              </a:lnSpc>
              <a:spcBef>
                <a:spcPct val="0"/>
              </a:spcBef>
            </a:pPr>
            <a:r>
              <a:rPr lang="en-US" sz="5000" spc="115">
                <a:solidFill>
                  <a:srgbClr val="000000"/>
                </a:solidFill>
                <a:latin typeface="Marykate"/>
                <a:ea typeface="Marykate"/>
                <a:cs typeface="Marykate"/>
                <a:sym typeface="Marykate"/>
              </a:rPr>
              <a:t>⚙️ OPERATIONS OVERVIEW</a:t>
            </a:r>
          </a:p>
        </p:txBody>
      </p:sp>
      <p:sp>
        <p:nvSpPr>
          <p:cNvPr name="TextBox 10" id="10"/>
          <p:cNvSpPr txBox="true"/>
          <p:nvPr/>
        </p:nvSpPr>
        <p:spPr>
          <a:xfrm rot="0">
            <a:off x="841151" y="3026124"/>
            <a:ext cx="4094822" cy="1342321"/>
          </a:xfrm>
          <a:prstGeom prst="rect">
            <a:avLst/>
          </a:prstGeom>
        </p:spPr>
        <p:txBody>
          <a:bodyPr anchor="t" rtlCol="false" tIns="0" lIns="0" bIns="0" rIns="0">
            <a:spAutoFit/>
          </a:bodyPr>
          <a:lstStyle/>
          <a:p>
            <a:pPr algn="ctr">
              <a:lnSpc>
                <a:spcPts val="2663"/>
              </a:lnSpc>
              <a:spcBef>
                <a:spcPct val="0"/>
              </a:spcBef>
            </a:pPr>
            <a:r>
              <a:rPr lang="en-US" sz="1902">
                <a:solidFill>
                  <a:srgbClr val="000000"/>
                </a:solidFill>
                <a:latin typeface="Poppins"/>
                <a:ea typeface="Poppins"/>
                <a:cs typeface="Poppins"/>
                <a:sym typeface="Poppins"/>
              </a:rPr>
              <a:t>Initial exploration of the dataset structure, variables, and source to ensure relevance and completeness.</a:t>
            </a:r>
          </a:p>
        </p:txBody>
      </p:sp>
      <p:sp>
        <p:nvSpPr>
          <p:cNvPr name="TextBox 11" id="11"/>
          <p:cNvSpPr txBox="true"/>
          <p:nvPr/>
        </p:nvSpPr>
        <p:spPr>
          <a:xfrm rot="0">
            <a:off x="1201746" y="1783009"/>
            <a:ext cx="3373634" cy="775267"/>
          </a:xfrm>
          <a:prstGeom prst="rect">
            <a:avLst/>
          </a:prstGeom>
        </p:spPr>
        <p:txBody>
          <a:bodyPr anchor="t" rtlCol="false" tIns="0" lIns="0" bIns="0" rIns="0">
            <a:spAutoFit/>
          </a:bodyPr>
          <a:lstStyle/>
          <a:p>
            <a:pPr algn="ctr">
              <a:lnSpc>
                <a:spcPts val="2920"/>
              </a:lnSpc>
            </a:pPr>
            <a:r>
              <a:rPr lang="en-US" sz="3395" u="sng">
                <a:solidFill>
                  <a:srgbClr val="000000"/>
                </a:solidFill>
                <a:latin typeface="Marykate"/>
                <a:ea typeface="Marykate"/>
                <a:cs typeface="Marykate"/>
                <a:sym typeface="Marykate"/>
              </a:rPr>
              <a:t>Understanding and Gathering the Dataset</a:t>
            </a:r>
          </a:p>
        </p:txBody>
      </p:sp>
      <p:sp>
        <p:nvSpPr>
          <p:cNvPr name="Freeform 12" id="12"/>
          <p:cNvSpPr/>
          <p:nvPr/>
        </p:nvSpPr>
        <p:spPr>
          <a:xfrm flipH="false" flipV="false" rot="273862">
            <a:off x="36211" y="199144"/>
            <a:ext cx="762616" cy="940445"/>
          </a:xfrm>
          <a:custGeom>
            <a:avLst/>
            <a:gdLst/>
            <a:ahLst/>
            <a:cxnLst/>
            <a:rect r="r" b="b" t="t" l="l"/>
            <a:pathLst>
              <a:path h="940445" w="762616">
                <a:moveTo>
                  <a:pt x="0" y="0"/>
                </a:moveTo>
                <a:lnTo>
                  <a:pt x="762615" y="0"/>
                </a:lnTo>
                <a:lnTo>
                  <a:pt x="762615" y="940445"/>
                </a:lnTo>
                <a:lnTo>
                  <a:pt x="0" y="94044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5658940" y="3801179"/>
            <a:ext cx="3707444" cy="1342321"/>
          </a:xfrm>
          <a:prstGeom prst="rect">
            <a:avLst/>
          </a:prstGeom>
        </p:spPr>
        <p:txBody>
          <a:bodyPr anchor="t" rtlCol="false" tIns="0" lIns="0" bIns="0" rIns="0">
            <a:spAutoFit/>
          </a:bodyPr>
          <a:lstStyle/>
          <a:p>
            <a:pPr algn="ctr">
              <a:lnSpc>
                <a:spcPts val="2663"/>
              </a:lnSpc>
              <a:spcBef>
                <a:spcPct val="0"/>
              </a:spcBef>
            </a:pPr>
            <a:r>
              <a:rPr lang="en-US" sz="1902">
                <a:solidFill>
                  <a:srgbClr val="000000"/>
                </a:solidFill>
                <a:latin typeface="Poppins"/>
                <a:ea typeface="Poppins"/>
                <a:cs typeface="Poppins"/>
                <a:sym typeface="Poppins"/>
              </a:rPr>
              <a:t>Handling missing values, correcting inconsistencies, and preparing the data for analysis.</a:t>
            </a:r>
          </a:p>
        </p:txBody>
      </p:sp>
      <p:sp>
        <p:nvSpPr>
          <p:cNvPr name="TextBox 14" id="14"/>
          <p:cNvSpPr txBox="true"/>
          <p:nvPr/>
        </p:nvSpPr>
        <p:spPr>
          <a:xfrm rot="0">
            <a:off x="5839915" y="3103848"/>
            <a:ext cx="3088492" cy="431673"/>
          </a:xfrm>
          <a:prstGeom prst="rect">
            <a:avLst/>
          </a:prstGeom>
        </p:spPr>
        <p:txBody>
          <a:bodyPr anchor="t" rtlCol="false" tIns="0" lIns="0" bIns="0" rIns="0">
            <a:spAutoFit/>
          </a:bodyPr>
          <a:lstStyle/>
          <a:p>
            <a:pPr algn="ctr">
              <a:lnSpc>
                <a:spcPts val="3096"/>
              </a:lnSpc>
            </a:pPr>
            <a:r>
              <a:rPr lang="en-US" sz="3600" u="sng">
                <a:solidFill>
                  <a:srgbClr val="000000"/>
                </a:solidFill>
                <a:latin typeface="Marykate"/>
                <a:ea typeface="Marykate"/>
                <a:cs typeface="Marykate"/>
                <a:sym typeface="Marykate"/>
              </a:rPr>
              <a:t>Data Cleaning</a:t>
            </a:r>
          </a:p>
        </p:txBody>
      </p:sp>
      <p:sp>
        <p:nvSpPr>
          <p:cNvPr name="TextBox 15" id="15"/>
          <p:cNvSpPr txBox="true"/>
          <p:nvPr/>
        </p:nvSpPr>
        <p:spPr>
          <a:xfrm rot="0">
            <a:off x="10056847" y="4217886"/>
            <a:ext cx="3707444" cy="1195001"/>
          </a:xfrm>
          <a:prstGeom prst="rect">
            <a:avLst/>
          </a:prstGeom>
        </p:spPr>
        <p:txBody>
          <a:bodyPr anchor="t" rtlCol="false" tIns="0" lIns="0" bIns="0" rIns="0">
            <a:spAutoFit/>
          </a:bodyPr>
          <a:lstStyle/>
          <a:p>
            <a:pPr algn="ctr">
              <a:lnSpc>
                <a:spcPts val="2383"/>
              </a:lnSpc>
              <a:spcBef>
                <a:spcPct val="0"/>
              </a:spcBef>
            </a:pPr>
            <a:r>
              <a:rPr lang="en-US" sz="1702">
                <a:solidFill>
                  <a:srgbClr val="000000"/>
                </a:solidFill>
                <a:latin typeface="Poppins"/>
                <a:ea typeface="Poppins"/>
                <a:cs typeface="Poppins"/>
                <a:sym typeface="Poppins"/>
              </a:rPr>
              <a:t>Identifying patterns, distributions, and relationships among variables using statistical summaries and plots.</a:t>
            </a:r>
          </a:p>
        </p:txBody>
      </p:sp>
      <p:sp>
        <p:nvSpPr>
          <p:cNvPr name="TextBox 16" id="16"/>
          <p:cNvSpPr txBox="true"/>
          <p:nvPr/>
        </p:nvSpPr>
        <p:spPr>
          <a:xfrm rot="0">
            <a:off x="10454059" y="2956210"/>
            <a:ext cx="2913020" cy="822198"/>
          </a:xfrm>
          <a:prstGeom prst="rect">
            <a:avLst/>
          </a:prstGeom>
        </p:spPr>
        <p:txBody>
          <a:bodyPr anchor="t" rtlCol="false" tIns="0" lIns="0" bIns="0" rIns="0">
            <a:spAutoFit/>
          </a:bodyPr>
          <a:lstStyle/>
          <a:p>
            <a:pPr algn="ctr">
              <a:lnSpc>
                <a:spcPts val="3096"/>
              </a:lnSpc>
            </a:pPr>
            <a:r>
              <a:rPr lang="en-US" sz="3600" u="sng">
                <a:solidFill>
                  <a:srgbClr val="000000"/>
                </a:solidFill>
                <a:latin typeface="Marykate"/>
                <a:ea typeface="Marykate"/>
                <a:cs typeface="Marykate"/>
                <a:sym typeface="Marykate"/>
              </a:rPr>
              <a:t>Exploratory Data Analysis (EDA)</a:t>
            </a:r>
          </a:p>
        </p:txBody>
      </p:sp>
      <p:sp>
        <p:nvSpPr>
          <p:cNvPr name="TextBox 17" id="17"/>
          <p:cNvSpPr txBox="true"/>
          <p:nvPr/>
        </p:nvSpPr>
        <p:spPr>
          <a:xfrm rot="0">
            <a:off x="5312509" y="989141"/>
            <a:ext cx="8918312" cy="375216"/>
          </a:xfrm>
          <a:prstGeom prst="rect">
            <a:avLst/>
          </a:prstGeom>
        </p:spPr>
        <p:txBody>
          <a:bodyPr anchor="t" rtlCol="false" tIns="0" lIns="0" bIns="0" rIns="0">
            <a:spAutoFit/>
          </a:bodyPr>
          <a:lstStyle/>
          <a:p>
            <a:pPr algn="ctr">
              <a:lnSpc>
                <a:spcPts val="2943"/>
              </a:lnSpc>
              <a:spcBef>
                <a:spcPct val="0"/>
              </a:spcBef>
            </a:pPr>
            <a:r>
              <a:rPr lang="en-US" sz="2102">
                <a:solidFill>
                  <a:srgbClr val="000000"/>
                </a:solidFill>
                <a:latin typeface="Poppins"/>
                <a:ea typeface="Poppins"/>
                <a:cs typeface="Poppins"/>
                <a:sym typeface="Poppins"/>
              </a:rPr>
              <a:t>The project workflow is structured into four key stages:</a:t>
            </a:r>
          </a:p>
        </p:txBody>
      </p:sp>
      <p:sp>
        <p:nvSpPr>
          <p:cNvPr name="Freeform 18" id="18"/>
          <p:cNvSpPr/>
          <p:nvPr/>
        </p:nvSpPr>
        <p:spPr>
          <a:xfrm flipH="false" flipV="false" rot="0">
            <a:off x="14207104" y="1596847"/>
            <a:ext cx="3867693" cy="4399003"/>
          </a:xfrm>
          <a:custGeom>
            <a:avLst/>
            <a:gdLst/>
            <a:ahLst/>
            <a:cxnLst/>
            <a:rect r="r" b="b" t="t" l="l"/>
            <a:pathLst>
              <a:path h="4399003" w="3867693">
                <a:moveTo>
                  <a:pt x="0" y="0"/>
                </a:moveTo>
                <a:lnTo>
                  <a:pt x="3867693" y="0"/>
                </a:lnTo>
                <a:lnTo>
                  <a:pt x="3867693" y="4399003"/>
                </a:lnTo>
                <a:lnTo>
                  <a:pt x="0" y="4399003"/>
                </a:lnTo>
                <a:lnTo>
                  <a:pt x="0" y="0"/>
                </a:lnTo>
                <a:close/>
              </a:path>
            </a:pathLst>
          </a:custGeom>
          <a:blipFill>
            <a:blip r:embed="rId6">
              <a:extLst>
                <a:ext uri="{96DAC541-7B7A-43D3-8B79-37D633B846F1}">
                  <asvg:svgBlip xmlns:asvg="http://schemas.microsoft.com/office/drawing/2016/SVG/main" r:embed="rId7"/>
                </a:ext>
              </a:extLst>
            </a:blip>
            <a:stretch>
              <a:fillRect l="0" t="-6568" r="-57598" b="0"/>
            </a:stretch>
          </a:blipFill>
        </p:spPr>
      </p:sp>
      <p:sp>
        <p:nvSpPr>
          <p:cNvPr name="TextBox 19" id="19"/>
          <p:cNvSpPr txBox="true"/>
          <p:nvPr/>
        </p:nvSpPr>
        <p:spPr>
          <a:xfrm rot="0">
            <a:off x="14596704" y="1925203"/>
            <a:ext cx="3088492" cy="431673"/>
          </a:xfrm>
          <a:prstGeom prst="rect">
            <a:avLst/>
          </a:prstGeom>
        </p:spPr>
        <p:txBody>
          <a:bodyPr anchor="t" rtlCol="false" tIns="0" lIns="0" bIns="0" rIns="0">
            <a:spAutoFit/>
          </a:bodyPr>
          <a:lstStyle/>
          <a:p>
            <a:pPr algn="ctr">
              <a:lnSpc>
                <a:spcPts val="3096"/>
              </a:lnSpc>
            </a:pPr>
            <a:r>
              <a:rPr lang="en-US" sz="3600" u="sng">
                <a:solidFill>
                  <a:srgbClr val="000000"/>
                </a:solidFill>
                <a:latin typeface="Marykate"/>
                <a:ea typeface="Marykate"/>
                <a:cs typeface="Marykate"/>
                <a:sym typeface="Marykate"/>
              </a:rPr>
              <a:t>Visualizations</a:t>
            </a:r>
          </a:p>
        </p:txBody>
      </p:sp>
      <p:sp>
        <p:nvSpPr>
          <p:cNvPr name="TextBox 20" id="20"/>
          <p:cNvSpPr txBox="true"/>
          <p:nvPr/>
        </p:nvSpPr>
        <p:spPr>
          <a:xfrm rot="0">
            <a:off x="14273779" y="2784760"/>
            <a:ext cx="3707444" cy="1490276"/>
          </a:xfrm>
          <a:prstGeom prst="rect">
            <a:avLst/>
          </a:prstGeom>
        </p:spPr>
        <p:txBody>
          <a:bodyPr anchor="t" rtlCol="false" tIns="0" lIns="0" bIns="0" rIns="0">
            <a:spAutoFit/>
          </a:bodyPr>
          <a:lstStyle/>
          <a:p>
            <a:pPr algn="ctr">
              <a:lnSpc>
                <a:spcPts val="2383"/>
              </a:lnSpc>
              <a:spcBef>
                <a:spcPct val="0"/>
              </a:spcBef>
            </a:pPr>
            <a:r>
              <a:rPr lang="en-US" sz="1702">
                <a:solidFill>
                  <a:srgbClr val="000000"/>
                </a:solidFill>
                <a:latin typeface="Poppins"/>
                <a:ea typeface="Poppins"/>
                <a:cs typeface="Poppins"/>
                <a:sym typeface="Poppins"/>
              </a:rPr>
              <a:t>Creating clear, informative charts and graphs to communicate insights effectively.</a:t>
            </a:r>
          </a:p>
          <a:p>
            <a:pPr algn="ctr">
              <a:lnSpc>
                <a:spcPts val="2383"/>
              </a:lnSpc>
              <a:spcBef>
                <a:spcPct val="0"/>
              </a:spcBef>
            </a:pPr>
          </a:p>
          <a:p>
            <a:pPr algn="ctr">
              <a:lnSpc>
                <a:spcPts val="2383"/>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210699" y="2120295"/>
            <a:ext cx="11571108" cy="1335405"/>
          </a:xfrm>
          <a:prstGeom prst="rect">
            <a:avLst/>
          </a:prstGeom>
        </p:spPr>
        <p:txBody>
          <a:bodyPr anchor="t" rtlCol="false" tIns="0" lIns="0" bIns="0" rIns="0">
            <a:spAutoFit/>
          </a:bodyPr>
          <a:lstStyle/>
          <a:p>
            <a:pPr algn="l" marL="0" indent="0" lvl="0">
              <a:lnSpc>
                <a:spcPts val="10080"/>
              </a:lnSpc>
            </a:pPr>
            <a:r>
              <a:rPr lang="en-US" sz="9600">
                <a:solidFill>
                  <a:srgbClr val="000000"/>
                </a:solidFill>
                <a:latin typeface="Marykate"/>
                <a:ea typeface="Marykate"/>
                <a:cs typeface="Marykate"/>
                <a:sym typeface="Marykate"/>
              </a:rPr>
              <a:t>Understanding the Dataset</a:t>
            </a:r>
          </a:p>
        </p:txBody>
      </p:sp>
      <p:sp>
        <p:nvSpPr>
          <p:cNvPr name="AutoShape 3" id="3"/>
          <p:cNvSpPr/>
          <p:nvPr/>
        </p:nvSpPr>
        <p:spPr>
          <a:xfrm>
            <a:off x="2210699" y="4069111"/>
            <a:ext cx="13844095" cy="0"/>
          </a:xfrm>
          <a:prstGeom prst="line">
            <a:avLst/>
          </a:prstGeom>
          <a:ln cap="flat" w="38100">
            <a:solidFill>
              <a:srgbClr val="7E7CD4"/>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DF6"/>
        </a:solidFill>
      </p:bgPr>
    </p:bg>
    <p:spTree>
      <p:nvGrpSpPr>
        <p:cNvPr id="1" name=""/>
        <p:cNvGrpSpPr/>
        <p:nvPr/>
      </p:nvGrpSpPr>
      <p:grpSpPr>
        <a:xfrm>
          <a:off x="0" y="0"/>
          <a:ext cx="0" cy="0"/>
          <a:chOff x="0" y="0"/>
          <a:chExt cx="0" cy="0"/>
        </a:xfrm>
      </p:grpSpPr>
      <p:sp>
        <p:nvSpPr>
          <p:cNvPr name="Freeform 2" id="2"/>
          <p:cNvSpPr/>
          <p:nvPr/>
        </p:nvSpPr>
        <p:spPr>
          <a:xfrm flipH="false" flipV="false" rot="-586984">
            <a:off x="7412387" y="7322361"/>
            <a:ext cx="13221743" cy="4726773"/>
          </a:xfrm>
          <a:custGeom>
            <a:avLst/>
            <a:gdLst/>
            <a:ahLst/>
            <a:cxnLst/>
            <a:rect r="r" b="b" t="t" l="l"/>
            <a:pathLst>
              <a:path h="4726773" w="13221743">
                <a:moveTo>
                  <a:pt x="0" y="0"/>
                </a:moveTo>
                <a:lnTo>
                  <a:pt x="13221743" y="0"/>
                </a:lnTo>
                <a:lnTo>
                  <a:pt x="13221743" y="4726773"/>
                </a:lnTo>
                <a:lnTo>
                  <a:pt x="0" y="47267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610165" y="1056598"/>
            <a:ext cx="8657048" cy="8933164"/>
          </a:xfrm>
          <a:custGeom>
            <a:avLst/>
            <a:gdLst/>
            <a:ahLst/>
            <a:cxnLst/>
            <a:rect r="r" b="b" t="t" l="l"/>
            <a:pathLst>
              <a:path h="8933164" w="8657048">
                <a:moveTo>
                  <a:pt x="0" y="0"/>
                </a:moveTo>
                <a:lnTo>
                  <a:pt x="8657048" y="0"/>
                </a:lnTo>
                <a:lnTo>
                  <a:pt x="8657048" y="8933164"/>
                </a:lnTo>
                <a:lnTo>
                  <a:pt x="0" y="89331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646318">
            <a:off x="-4512407" y="-2210979"/>
            <a:ext cx="17142419" cy="6128415"/>
          </a:xfrm>
          <a:custGeom>
            <a:avLst/>
            <a:gdLst/>
            <a:ahLst/>
            <a:cxnLst/>
            <a:rect r="r" b="b" t="t" l="l"/>
            <a:pathLst>
              <a:path h="6128415" w="17142419">
                <a:moveTo>
                  <a:pt x="0" y="0"/>
                </a:moveTo>
                <a:lnTo>
                  <a:pt x="17142419" y="0"/>
                </a:lnTo>
                <a:lnTo>
                  <a:pt x="17142419" y="6128415"/>
                </a:lnTo>
                <a:lnTo>
                  <a:pt x="0" y="61284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884805">
            <a:off x="-2384819" y="476141"/>
            <a:ext cx="4711045" cy="3314863"/>
          </a:xfrm>
          <a:custGeom>
            <a:avLst/>
            <a:gdLst/>
            <a:ahLst/>
            <a:cxnLst/>
            <a:rect r="r" b="b" t="t" l="l"/>
            <a:pathLst>
              <a:path h="3314863" w="4711045">
                <a:moveTo>
                  <a:pt x="0" y="0"/>
                </a:moveTo>
                <a:lnTo>
                  <a:pt x="4711045" y="0"/>
                </a:lnTo>
                <a:lnTo>
                  <a:pt x="4711045" y="3314863"/>
                </a:lnTo>
                <a:lnTo>
                  <a:pt x="0" y="33148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3907433">
            <a:off x="16118318" y="-934995"/>
            <a:ext cx="3363338" cy="5361844"/>
          </a:xfrm>
          <a:custGeom>
            <a:avLst/>
            <a:gdLst/>
            <a:ahLst/>
            <a:cxnLst/>
            <a:rect r="r" b="b" t="t" l="l"/>
            <a:pathLst>
              <a:path h="5361844" w="3363338">
                <a:moveTo>
                  <a:pt x="0" y="0"/>
                </a:moveTo>
                <a:lnTo>
                  <a:pt x="3363338" y="0"/>
                </a:lnTo>
                <a:lnTo>
                  <a:pt x="3363338" y="5361844"/>
                </a:lnTo>
                <a:lnTo>
                  <a:pt x="0" y="536184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5757566" y="3058555"/>
            <a:ext cx="6522311" cy="4746897"/>
          </a:xfrm>
          <a:custGeom>
            <a:avLst/>
            <a:gdLst/>
            <a:ahLst/>
            <a:cxnLst/>
            <a:rect r="r" b="b" t="t" l="l"/>
            <a:pathLst>
              <a:path h="4746897" w="6522311">
                <a:moveTo>
                  <a:pt x="0" y="0"/>
                </a:moveTo>
                <a:lnTo>
                  <a:pt x="6522311" y="0"/>
                </a:lnTo>
                <a:lnTo>
                  <a:pt x="6522311" y="4746897"/>
                </a:lnTo>
                <a:lnTo>
                  <a:pt x="0" y="4746897"/>
                </a:lnTo>
                <a:lnTo>
                  <a:pt x="0" y="0"/>
                </a:lnTo>
                <a:close/>
              </a:path>
            </a:pathLst>
          </a:custGeom>
          <a:blipFill>
            <a:blip r:embed="rId12"/>
            <a:stretch>
              <a:fillRect l="0" t="0" r="0" b="0"/>
            </a:stretch>
          </a:blipFill>
        </p:spPr>
      </p:sp>
      <p:sp>
        <p:nvSpPr>
          <p:cNvPr name="Freeform 8" id="8"/>
          <p:cNvSpPr/>
          <p:nvPr/>
        </p:nvSpPr>
        <p:spPr>
          <a:xfrm flipH="false" flipV="false" rot="77994">
            <a:off x="5563946" y="2779524"/>
            <a:ext cx="6777235" cy="5327812"/>
          </a:xfrm>
          <a:custGeom>
            <a:avLst/>
            <a:gdLst/>
            <a:ahLst/>
            <a:cxnLst/>
            <a:rect r="r" b="b" t="t" l="l"/>
            <a:pathLst>
              <a:path h="5327812" w="6777235">
                <a:moveTo>
                  <a:pt x="0" y="0"/>
                </a:moveTo>
                <a:lnTo>
                  <a:pt x="6777235" y="0"/>
                </a:lnTo>
                <a:lnTo>
                  <a:pt x="6777235" y="5327812"/>
                </a:lnTo>
                <a:lnTo>
                  <a:pt x="0" y="5327812"/>
                </a:lnTo>
                <a:lnTo>
                  <a:pt x="0" y="0"/>
                </a:lnTo>
                <a:close/>
              </a:path>
            </a:pathLst>
          </a:custGeom>
          <a:blipFill>
            <a:blip r:embed="rId13"/>
            <a:stretch>
              <a:fillRect l="0" t="0" r="-7689" b="0"/>
            </a:stretch>
          </a:blipFill>
          <a:ln w="76200" cap="rnd">
            <a:solidFill>
              <a:srgbClr val="000000"/>
            </a:solidFill>
            <a:prstDash val="solid"/>
            <a:round/>
          </a:ln>
        </p:spPr>
      </p:sp>
      <p:sp>
        <p:nvSpPr>
          <p:cNvPr name="TextBox 9" id="9"/>
          <p:cNvSpPr txBox="true"/>
          <p:nvPr/>
        </p:nvSpPr>
        <p:spPr>
          <a:xfrm rot="0">
            <a:off x="6189195" y="58539"/>
            <a:ext cx="7834063" cy="1427453"/>
          </a:xfrm>
          <a:prstGeom prst="rect">
            <a:avLst/>
          </a:prstGeom>
        </p:spPr>
        <p:txBody>
          <a:bodyPr anchor="t" rtlCol="false" tIns="0" lIns="0" bIns="0" rIns="0">
            <a:spAutoFit/>
          </a:bodyPr>
          <a:lstStyle/>
          <a:p>
            <a:pPr algn="ctr">
              <a:lnSpc>
                <a:spcPts val="11646"/>
              </a:lnSpc>
              <a:spcBef>
                <a:spcPct val="0"/>
              </a:spcBef>
            </a:pPr>
            <a:r>
              <a:rPr lang="en-US" sz="8318">
                <a:solidFill>
                  <a:srgbClr val="000000"/>
                </a:solidFill>
                <a:latin typeface="Marykate"/>
                <a:ea typeface="Marykate"/>
                <a:cs typeface="Marykate"/>
                <a:sym typeface="Marykate"/>
              </a:rPr>
              <a:t>DATASET OVERVIEW</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6"/>
        </a:solidFill>
      </p:bgPr>
    </p:bg>
    <p:spTree>
      <p:nvGrpSpPr>
        <p:cNvPr id="1" name=""/>
        <p:cNvGrpSpPr/>
        <p:nvPr/>
      </p:nvGrpSpPr>
      <p:grpSpPr>
        <a:xfrm>
          <a:off x="0" y="0"/>
          <a:ext cx="0" cy="0"/>
          <a:chOff x="0" y="0"/>
          <a:chExt cx="0" cy="0"/>
        </a:xfrm>
      </p:grpSpPr>
      <p:sp>
        <p:nvSpPr>
          <p:cNvPr name="Freeform 2" id="2"/>
          <p:cNvSpPr/>
          <p:nvPr/>
        </p:nvSpPr>
        <p:spPr>
          <a:xfrm flipH="false" flipV="false" rot="2550706">
            <a:off x="-6028507" y="5775612"/>
            <a:ext cx="13630978" cy="4873075"/>
          </a:xfrm>
          <a:custGeom>
            <a:avLst/>
            <a:gdLst/>
            <a:ahLst/>
            <a:cxnLst/>
            <a:rect r="r" b="b" t="t" l="l"/>
            <a:pathLst>
              <a:path h="4873075" w="13630978">
                <a:moveTo>
                  <a:pt x="0" y="0"/>
                </a:moveTo>
                <a:lnTo>
                  <a:pt x="13630978" y="0"/>
                </a:lnTo>
                <a:lnTo>
                  <a:pt x="13630978" y="4873075"/>
                </a:lnTo>
                <a:lnTo>
                  <a:pt x="0" y="48730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78520" y="-50721"/>
            <a:ext cx="7234443" cy="2369904"/>
          </a:xfrm>
          <a:custGeom>
            <a:avLst/>
            <a:gdLst/>
            <a:ahLst/>
            <a:cxnLst/>
            <a:rect r="r" b="b" t="t" l="l"/>
            <a:pathLst>
              <a:path h="2369904" w="7234443">
                <a:moveTo>
                  <a:pt x="0" y="0"/>
                </a:moveTo>
                <a:lnTo>
                  <a:pt x="7234443" y="0"/>
                </a:lnTo>
                <a:lnTo>
                  <a:pt x="7234443" y="2369903"/>
                </a:lnTo>
                <a:lnTo>
                  <a:pt x="0" y="23699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863894">
            <a:off x="10324066" y="204535"/>
            <a:ext cx="17142419" cy="6128415"/>
          </a:xfrm>
          <a:custGeom>
            <a:avLst/>
            <a:gdLst/>
            <a:ahLst/>
            <a:cxnLst/>
            <a:rect r="r" b="b" t="t" l="l"/>
            <a:pathLst>
              <a:path h="6128415" w="17142419">
                <a:moveTo>
                  <a:pt x="0" y="0"/>
                </a:moveTo>
                <a:lnTo>
                  <a:pt x="17142419" y="0"/>
                </a:lnTo>
                <a:lnTo>
                  <a:pt x="17142419" y="6128415"/>
                </a:lnTo>
                <a:lnTo>
                  <a:pt x="0" y="61284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736667">
            <a:off x="-1631543" y="5595209"/>
            <a:ext cx="3697586" cy="2601756"/>
          </a:xfrm>
          <a:custGeom>
            <a:avLst/>
            <a:gdLst/>
            <a:ahLst/>
            <a:cxnLst/>
            <a:rect r="r" b="b" t="t" l="l"/>
            <a:pathLst>
              <a:path h="2601756" w="3697586">
                <a:moveTo>
                  <a:pt x="0" y="0"/>
                </a:moveTo>
                <a:lnTo>
                  <a:pt x="3697586" y="0"/>
                </a:lnTo>
                <a:lnTo>
                  <a:pt x="3697586" y="2601756"/>
                </a:lnTo>
                <a:lnTo>
                  <a:pt x="0" y="26017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3907433">
            <a:off x="16157776" y="-26753"/>
            <a:ext cx="3268586" cy="5210790"/>
          </a:xfrm>
          <a:custGeom>
            <a:avLst/>
            <a:gdLst/>
            <a:ahLst/>
            <a:cxnLst/>
            <a:rect r="r" b="b" t="t" l="l"/>
            <a:pathLst>
              <a:path h="5210790" w="3268586">
                <a:moveTo>
                  <a:pt x="0" y="0"/>
                </a:moveTo>
                <a:lnTo>
                  <a:pt x="3268587" y="0"/>
                </a:lnTo>
                <a:lnTo>
                  <a:pt x="3268587" y="5210790"/>
                </a:lnTo>
                <a:lnTo>
                  <a:pt x="0" y="52107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6935881" y="9002015"/>
            <a:ext cx="1367667" cy="1194735"/>
          </a:xfrm>
          <a:custGeom>
            <a:avLst/>
            <a:gdLst/>
            <a:ahLst/>
            <a:cxnLst/>
            <a:rect r="r" b="b" t="t" l="l"/>
            <a:pathLst>
              <a:path h="1194735" w="1367667">
                <a:moveTo>
                  <a:pt x="0" y="0"/>
                </a:moveTo>
                <a:lnTo>
                  <a:pt x="1367667" y="0"/>
                </a:lnTo>
                <a:lnTo>
                  <a:pt x="1367667" y="1194735"/>
                </a:lnTo>
                <a:lnTo>
                  <a:pt x="0" y="1194735"/>
                </a:lnTo>
                <a:lnTo>
                  <a:pt x="0" y="0"/>
                </a:lnTo>
                <a:close/>
              </a:path>
            </a:pathLst>
          </a:custGeom>
          <a:blipFill>
            <a:blip r:embed="rId12">
              <a:extLst>
                <a:ext uri="{96DAC541-7B7A-43D3-8B79-37D633B846F1}">
                  <asvg:svgBlip xmlns:asvg="http://schemas.microsoft.com/office/drawing/2016/SVG/main" r:embed="rId13"/>
                </a:ext>
              </a:extLst>
            </a:blip>
            <a:stretch>
              <a:fillRect l="-121875" t="-121898" r="-10967" b="0"/>
            </a:stretch>
          </a:blipFill>
        </p:spPr>
      </p:sp>
      <p:sp>
        <p:nvSpPr>
          <p:cNvPr name="Freeform 8" id="8"/>
          <p:cNvSpPr/>
          <p:nvPr/>
        </p:nvSpPr>
        <p:spPr>
          <a:xfrm flipH="false" flipV="false" rot="0">
            <a:off x="323407" y="324312"/>
            <a:ext cx="927150" cy="809918"/>
          </a:xfrm>
          <a:custGeom>
            <a:avLst/>
            <a:gdLst/>
            <a:ahLst/>
            <a:cxnLst/>
            <a:rect r="r" b="b" t="t" l="l"/>
            <a:pathLst>
              <a:path h="809918" w="927150">
                <a:moveTo>
                  <a:pt x="0" y="0"/>
                </a:moveTo>
                <a:lnTo>
                  <a:pt x="927149" y="0"/>
                </a:lnTo>
                <a:lnTo>
                  <a:pt x="927149" y="809919"/>
                </a:lnTo>
                <a:lnTo>
                  <a:pt x="0" y="809919"/>
                </a:lnTo>
                <a:lnTo>
                  <a:pt x="0" y="0"/>
                </a:lnTo>
                <a:close/>
              </a:path>
            </a:pathLst>
          </a:custGeom>
          <a:blipFill>
            <a:blip r:embed="rId14">
              <a:extLst>
                <a:ext uri="{96DAC541-7B7A-43D3-8B79-37D633B846F1}">
                  <asvg:svgBlip xmlns:asvg="http://schemas.microsoft.com/office/drawing/2016/SVG/main" r:embed="rId15"/>
                </a:ext>
              </a:extLst>
            </a:blip>
            <a:stretch>
              <a:fillRect l="-121875" t="-121898" r="-10967" b="0"/>
            </a:stretch>
          </a:blipFill>
        </p:spPr>
      </p:sp>
      <p:sp>
        <p:nvSpPr>
          <p:cNvPr name="Freeform 9" id="9"/>
          <p:cNvSpPr/>
          <p:nvPr/>
        </p:nvSpPr>
        <p:spPr>
          <a:xfrm flipH="false" flipV="false" rot="0">
            <a:off x="1176189" y="1134231"/>
            <a:ext cx="1032948" cy="902339"/>
          </a:xfrm>
          <a:custGeom>
            <a:avLst/>
            <a:gdLst/>
            <a:ahLst/>
            <a:cxnLst/>
            <a:rect r="r" b="b" t="t" l="l"/>
            <a:pathLst>
              <a:path h="902339" w="1032948">
                <a:moveTo>
                  <a:pt x="0" y="0"/>
                </a:moveTo>
                <a:lnTo>
                  <a:pt x="1032948" y="0"/>
                </a:lnTo>
                <a:lnTo>
                  <a:pt x="1032948" y="902338"/>
                </a:lnTo>
                <a:lnTo>
                  <a:pt x="0" y="902338"/>
                </a:lnTo>
                <a:lnTo>
                  <a:pt x="0" y="0"/>
                </a:lnTo>
                <a:close/>
              </a:path>
            </a:pathLst>
          </a:custGeom>
          <a:blipFill>
            <a:blip r:embed="rId16">
              <a:extLst>
                <a:ext uri="{96DAC541-7B7A-43D3-8B79-37D633B846F1}">
                  <asvg:svgBlip xmlns:asvg="http://schemas.microsoft.com/office/drawing/2016/SVG/main" r:embed="rId17"/>
                </a:ext>
              </a:extLst>
            </a:blip>
            <a:stretch>
              <a:fillRect l="-121875" t="-121898" r="-10967" b="0"/>
            </a:stretch>
          </a:blipFill>
        </p:spPr>
      </p:sp>
      <p:sp>
        <p:nvSpPr>
          <p:cNvPr name="TextBox 10" id="10"/>
          <p:cNvSpPr txBox="true"/>
          <p:nvPr/>
        </p:nvSpPr>
        <p:spPr>
          <a:xfrm rot="0">
            <a:off x="4853607" y="1013976"/>
            <a:ext cx="6284270" cy="571424"/>
          </a:xfrm>
          <a:prstGeom prst="rect">
            <a:avLst/>
          </a:prstGeom>
        </p:spPr>
        <p:txBody>
          <a:bodyPr anchor="t" rtlCol="false" tIns="0" lIns="0" bIns="0" rIns="0">
            <a:spAutoFit/>
          </a:bodyPr>
          <a:lstStyle/>
          <a:p>
            <a:pPr algn="ctr">
              <a:lnSpc>
                <a:spcPts val="4383"/>
              </a:lnSpc>
            </a:pPr>
            <a:r>
              <a:rPr lang="en-US" sz="4215">
                <a:solidFill>
                  <a:srgbClr val="000000"/>
                </a:solidFill>
                <a:latin typeface="Marykate"/>
                <a:ea typeface="Marykate"/>
                <a:cs typeface="Marykate"/>
                <a:sym typeface="Marykate"/>
              </a:rPr>
              <a:t>📊 DATA CHARACTERISTICS</a:t>
            </a:r>
          </a:p>
        </p:txBody>
      </p:sp>
      <p:sp>
        <p:nvSpPr>
          <p:cNvPr name="TextBox 11" id="11"/>
          <p:cNvSpPr txBox="true"/>
          <p:nvPr/>
        </p:nvSpPr>
        <p:spPr>
          <a:xfrm rot="0">
            <a:off x="2304255" y="3202067"/>
            <a:ext cx="15983745" cy="5678374"/>
          </a:xfrm>
          <a:prstGeom prst="rect">
            <a:avLst/>
          </a:prstGeom>
        </p:spPr>
        <p:txBody>
          <a:bodyPr anchor="t" rtlCol="false" tIns="0" lIns="0" bIns="0" rIns="0">
            <a:spAutoFit/>
          </a:bodyPr>
          <a:lstStyle/>
          <a:p>
            <a:pPr algn="l" marL="878063" indent="-439031" lvl="1">
              <a:lnSpc>
                <a:spcPts val="5693"/>
              </a:lnSpc>
              <a:buFont typeface="Arial"/>
              <a:buChar char="•"/>
            </a:pPr>
            <a:r>
              <a:rPr lang="en-US" sz="4066">
                <a:solidFill>
                  <a:srgbClr val="000000"/>
                </a:solidFill>
                <a:latin typeface="Dekko"/>
                <a:ea typeface="Dekko"/>
                <a:cs typeface="Dekko"/>
                <a:sym typeface="Dekko"/>
              </a:rPr>
              <a:t>States:  25 unique (e.g., Tamil Nadu, Andhra Pradesh, etc.)</a:t>
            </a:r>
          </a:p>
          <a:p>
            <a:pPr algn="l" marL="878063" indent="-439031" lvl="1">
              <a:lnSpc>
                <a:spcPts val="5693"/>
              </a:lnSpc>
              <a:buFont typeface="Arial"/>
              <a:buChar char="•"/>
            </a:pPr>
            <a:r>
              <a:rPr lang="en-US" sz="4066">
                <a:solidFill>
                  <a:srgbClr val="000000"/>
                </a:solidFill>
                <a:latin typeface="Dekko"/>
                <a:ea typeface="Dekko"/>
                <a:cs typeface="Dekko"/>
                <a:sym typeface="Dekko"/>
              </a:rPr>
              <a:t>Districts:  369 unique</a:t>
            </a:r>
          </a:p>
          <a:p>
            <a:pPr algn="l" marL="878063" indent="-439031" lvl="1">
              <a:lnSpc>
                <a:spcPts val="5693"/>
              </a:lnSpc>
              <a:buFont typeface="Arial"/>
              <a:buChar char="•"/>
            </a:pPr>
            <a:r>
              <a:rPr lang="en-US" sz="4066">
                <a:solidFill>
                  <a:srgbClr val="000000"/>
                </a:solidFill>
                <a:latin typeface="Dekko"/>
                <a:ea typeface="Dekko"/>
                <a:cs typeface="Dekko"/>
                <a:sym typeface="Dekko"/>
              </a:rPr>
              <a:t>Markets:  948 unique</a:t>
            </a:r>
          </a:p>
          <a:p>
            <a:pPr algn="l" marL="878063" indent="-439031" lvl="1">
              <a:lnSpc>
                <a:spcPts val="5693"/>
              </a:lnSpc>
              <a:buFont typeface="Arial"/>
              <a:buChar char="•"/>
            </a:pPr>
            <a:r>
              <a:rPr lang="en-US" sz="4066">
                <a:solidFill>
                  <a:srgbClr val="000000"/>
                </a:solidFill>
                <a:latin typeface="Dekko"/>
                <a:ea typeface="Dekko"/>
                <a:cs typeface="Dekko"/>
                <a:sym typeface="Dekko"/>
              </a:rPr>
              <a:t>Commodities:  187 unique (Top = Onion with 490 entries)</a:t>
            </a:r>
          </a:p>
          <a:p>
            <a:pPr algn="l" marL="878063" indent="-439031" lvl="1">
              <a:lnSpc>
                <a:spcPts val="5693"/>
              </a:lnSpc>
              <a:buFont typeface="Arial"/>
              <a:buChar char="•"/>
            </a:pPr>
            <a:r>
              <a:rPr lang="en-US" sz="4066">
                <a:solidFill>
                  <a:srgbClr val="000000"/>
                </a:solidFill>
                <a:latin typeface="Dekko"/>
                <a:ea typeface="Dekko"/>
                <a:cs typeface="Dekko"/>
                <a:sym typeface="Dekko"/>
              </a:rPr>
              <a:t>Varieties:  340 unique (Top = "Other")</a:t>
            </a:r>
          </a:p>
          <a:p>
            <a:pPr algn="l" marL="878063" indent="-439031" lvl="1">
              <a:lnSpc>
                <a:spcPts val="5693"/>
              </a:lnSpc>
              <a:buFont typeface="Arial"/>
              <a:buChar char="•"/>
            </a:pPr>
            <a:r>
              <a:rPr lang="en-US" sz="4066">
                <a:solidFill>
                  <a:srgbClr val="000000"/>
                </a:solidFill>
                <a:latin typeface="Dekko"/>
                <a:ea typeface="Dekko"/>
                <a:cs typeface="Dekko"/>
                <a:sym typeface="Dekko"/>
              </a:rPr>
              <a:t>Grades:  6 unique (Top = "Local", then "FAQ")</a:t>
            </a:r>
          </a:p>
          <a:p>
            <a:pPr algn="l" marL="878063" indent="-439031" lvl="1">
              <a:lnSpc>
                <a:spcPts val="5693"/>
              </a:lnSpc>
              <a:buFont typeface="Arial"/>
              <a:buChar char="•"/>
            </a:pPr>
            <a:r>
              <a:rPr lang="en-US" sz="4066">
                <a:solidFill>
                  <a:srgbClr val="000000"/>
                </a:solidFill>
                <a:latin typeface="Dekko"/>
                <a:ea typeface="Dekko"/>
                <a:cs typeface="Dekko"/>
                <a:sym typeface="Dekko"/>
              </a:rPr>
              <a:t>Dates:  Only one (07/08/2025) → dataset is a snapshot of a single day’s mandi prices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7E7CD4"/>
        </a:solidFill>
      </p:bgPr>
    </p:bg>
    <p:spTree>
      <p:nvGrpSpPr>
        <p:cNvPr id="1" name=""/>
        <p:cNvGrpSpPr/>
        <p:nvPr/>
      </p:nvGrpSpPr>
      <p:grpSpPr>
        <a:xfrm>
          <a:off x="0" y="0"/>
          <a:ext cx="0" cy="0"/>
          <a:chOff x="0" y="0"/>
          <a:chExt cx="0" cy="0"/>
        </a:xfrm>
      </p:grpSpPr>
      <p:sp>
        <p:nvSpPr>
          <p:cNvPr name="Freeform 2" id="2"/>
          <p:cNvSpPr/>
          <p:nvPr/>
        </p:nvSpPr>
        <p:spPr>
          <a:xfrm flipH="false" flipV="false" rot="0">
            <a:off x="3173951" y="389259"/>
            <a:ext cx="14630375" cy="9179997"/>
          </a:xfrm>
          <a:custGeom>
            <a:avLst/>
            <a:gdLst/>
            <a:ahLst/>
            <a:cxnLst/>
            <a:rect r="r" b="b" t="t" l="l"/>
            <a:pathLst>
              <a:path h="9179997" w="14630375">
                <a:moveTo>
                  <a:pt x="0" y="0"/>
                </a:moveTo>
                <a:lnTo>
                  <a:pt x="14630375" y="0"/>
                </a:lnTo>
                <a:lnTo>
                  <a:pt x="14630375" y="9179997"/>
                </a:lnTo>
                <a:lnTo>
                  <a:pt x="0" y="9179997"/>
                </a:lnTo>
                <a:lnTo>
                  <a:pt x="0" y="0"/>
                </a:lnTo>
                <a:close/>
              </a:path>
            </a:pathLst>
          </a:custGeom>
          <a:blipFill>
            <a:blip r:embed="rId2"/>
            <a:stretch>
              <a:fillRect l="-84" t="0" r="-11464" b="0"/>
            </a:stretch>
          </a:blipFill>
        </p:spPr>
      </p:sp>
      <p:sp>
        <p:nvSpPr>
          <p:cNvPr name="TextBox 3" id="3"/>
          <p:cNvSpPr txBox="true"/>
          <p:nvPr/>
        </p:nvSpPr>
        <p:spPr>
          <a:xfrm rot="0">
            <a:off x="296462" y="2125635"/>
            <a:ext cx="2676347" cy="1900277"/>
          </a:xfrm>
          <a:prstGeom prst="rect">
            <a:avLst/>
          </a:prstGeom>
        </p:spPr>
        <p:txBody>
          <a:bodyPr anchor="t" rtlCol="false" tIns="0" lIns="0" bIns="0" rIns="0">
            <a:spAutoFit/>
          </a:bodyPr>
          <a:lstStyle/>
          <a:p>
            <a:pPr algn="ctr">
              <a:lnSpc>
                <a:spcPts val="7610"/>
              </a:lnSpc>
            </a:pPr>
            <a:r>
              <a:rPr lang="en-US" sz="5435">
                <a:solidFill>
                  <a:srgbClr val="000000"/>
                </a:solidFill>
                <a:latin typeface="Marykate"/>
                <a:ea typeface="Marykate"/>
                <a:cs typeface="Marykate"/>
                <a:sym typeface="Marykate"/>
              </a:rPr>
              <a:t>Raw Dataset</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210699" y="2192684"/>
            <a:ext cx="8022194" cy="1181102"/>
          </a:xfrm>
          <a:prstGeom prst="rect">
            <a:avLst/>
          </a:prstGeom>
        </p:spPr>
        <p:txBody>
          <a:bodyPr anchor="t" rtlCol="false" tIns="0" lIns="0" bIns="0" rIns="0">
            <a:spAutoFit/>
          </a:bodyPr>
          <a:lstStyle/>
          <a:p>
            <a:pPr algn="l" marL="0" indent="0" lvl="0">
              <a:lnSpc>
                <a:spcPts val="8925"/>
              </a:lnSpc>
            </a:pPr>
            <a:r>
              <a:rPr lang="en-US" b="true" sz="8500">
                <a:solidFill>
                  <a:srgbClr val="000000"/>
                </a:solidFill>
                <a:latin typeface="Open Sans 1 Bold"/>
                <a:ea typeface="Open Sans 1 Bold"/>
                <a:cs typeface="Open Sans 1 Bold"/>
                <a:sym typeface="Open Sans 1 Bold"/>
              </a:rPr>
              <a:t>Data Cleaning</a:t>
            </a:r>
          </a:p>
        </p:txBody>
      </p:sp>
      <p:sp>
        <p:nvSpPr>
          <p:cNvPr name="AutoShape 3" id="3"/>
          <p:cNvSpPr/>
          <p:nvPr/>
        </p:nvSpPr>
        <p:spPr>
          <a:xfrm>
            <a:off x="2210699" y="4069111"/>
            <a:ext cx="13844095" cy="0"/>
          </a:xfrm>
          <a:prstGeom prst="line">
            <a:avLst/>
          </a:prstGeom>
          <a:ln cap="flat" w="38100">
            <a:solidFill>
              <a:srgbClr val="7E7CD4"/>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Abstract Solid Black Wave Illustration"/>
          <p:cNvSpPr/>
          <p:nvPr/>
        </p:nvSpPr>
        <p:spPr>
          <a:xfrm flipH="false" flipV="false" rot="-7863894">
            <a:off x="10324066" y="204535"/>
            <a:ext cx="17142419" cy="6128415"/>
          </a:xfrm>
          <a:custGeom>
            <a:avLst/>
            <a:gdLst/>
            <a:ahLst/>
            <a:cxnLst/>
            <a:rect r="r" b="b" t="t" l="l"/>
            <a:pathLst>
              <a:path h="6128415" w="17142419">
                <a:moveTo>
                  <a:pt x="0" y="0"/>
                </a:moveTo>
                <a:lnTo>
                  <a:pt x="17142419" y="0"/>
                </a:lnTo>
                <a:lnTo>
                  <a:pt x="17142419" y="6128415"/>
                </a:lnTo>
                <a:lnTo>
                  <a:pt x="0" y="61284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descr="Abstract Halftone Line Squiggle Illustration"/>
          <p:cNvSpPr/>
          <p:nvPr/>
        </p:nvSpPr>
        <p:spPr>
          <a:xfrm flipH="false" flipV="false" rot="5736667">
            <a:off x="-1631543" y="5595209"/>
            <a:ext cx="3697586" cy="2601756"/>
          </a:xfrm>
          <a:custGeom>
            <a:avLst/>
            <a:gdLst/>
            <a:ahLst/>
            <a:cxnLst/>
            <a:rect r="r" b="b" t="t" l="l"/>
            <a:pathLst>
              <a:path h="2601756" w="3697586">
                <a:moveTo>
                  <a:pt x="0" y="0"/>
                </a:moveTo>
                <a:lnTo>
                  <a:pt x="3697586" y="0"/>
                </a:lnTo>
                <a:lnTo>
                  <a:pt x="3697586" y="2601756"/>
                </a:lnTo>
                <a:lnTo>
                  <a:pt x="0" y="26017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descr="Abstract Halftone Stretched Line"/>
          <p:cNvSpPr/>
          <p:nvPr/>
        </p:nvSpPr>
        <p:spPr>
          <a:xfrm flipH="false" flipV="false" rot="-3907433">
            <a:off x="16157776" y="-26753"/>
            <a:ext cx="3268586" cy="5210790"/>
          </a:xfrm>
          <a:custGeom>
            <a:avLst/>
            <a:gdLst/>
            <a:ahLst/>
            <a:cxnLst/>
            <a:rect r="r" b="b" t="t" l="l"/>
            <a:pathLst>
              <a:path h="5210790" w="3268586">
                <a:moveTo>
                  <a:pt x="0" y="0"/>
                </a:moveTo>
                <a:lnTo>
                  <a:pt x="3268587" y="0"/>
                </a:lnTo>
                <a:lnTo>
                  <a:pt x="3268587" y="5210790"/>
                </a:lnTo>
                <a:lnTo>
                  <a:pt x="0" y="52107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descr="Stars"/>
          <p:cNvSpPr/>
          <p:nvPr/>
        </p:nvSpPr>
        <p:spPr>
          <a:xfrm flipH="false" flipV="false" rot="0">
            <a:off x="16935881" y="9002015"/>
            <a:ext cx="1367667" cy="1194735"/>
          </a:xfrm>
          <a:custGeom>
            <a:avLst/>
            <a:gdLst/>
            <a:ahLst/>
            <a:cxnLst/>
            <a:rect r="r" b="b" t="t" l="l"/>
            <a:pathLst>
              <a:path h="1194735" w="1367667">
                <a:moveTo>
                  <a:pt x="0" y="0"/>
                </a:moveTo>
                <a:lnTo>
                  <a:pt x="1367667" y="0"/>
                </a:lnTo>
                <a:lnTo>
                  <a:pt x="1367667" y="1194735"/>
                </a:lnTo>
                <a:lnTo>
                  <a:pt x="0" y="1194735"/>
                </a:lnTo>
                <a:lnTo>
                  <a:pt x="0" y="0"/>
                </a:lnTo>
                <a:close/>
              </a:path>
            </a:pathLst>
          </a:custGeom>
          <a:blipFill>
            <a:blip r:embed="rId8">
              <a:extLst>
                <a:ext uri="{96DAC541-7B7A-43D3-8B79-37D633B846F1}">
                  <asvg:svgBlip xmlns:asvg="http://schemas.microsoft.com/office/drawing/2016/SVG/main" r:embed="rId9"/>
                </a:ext>
              </a:extLst>
            </a:blip>
            <a:stretch>
              <a:fillRect l="-121875" t="-121898" r="-10967" b="0"/>
            </a:stretch>
          </a:blipFill>
        </p:spPr>
      </p:sp>
      <p:sp>
        <p:nvSpPr>
          <p:cNvPr name="Freeform 6" id="6" descr="Stars"/>
          <p:cNvSpPr/>
          <p:nvPr/>
        </p:nvSpPr>
        <p:spPr>
          <a:xfrm flipH="false" flipV="false" rot="0">
            <a:off x="323407" y="324312"/>
            <a:ext cx="927150" cy="809918"/>
          </a:xfrm>
          <a:custGeom>
            <a:avLst/>
            <a:gdLst/>
            <a:ahLst/>
            <a:cxnLst/>
            <a:rect r="r" b="b" t="t" l="l"/>
            <a:pathLst>
              <a:path h="809918" w="927150">
                <a:moveTo>
                  <a:pt x="0" y="0"/>
                </a:moveTo>
                <a:lnTo>
                  <a:pt x="927149" y="0"/>
                </a:lnTo>
                <a:lnTo>
                  <a:pt x="927149" y="809919"/>
                </a:lnTo>
                <a:lnTo>
                  <a:pt x="0" y="809919"/>
                </a:lnTo>
                <a:lnTo>
                  <a:pt x="0" y="0"/>
                </a:lnTo>
                <a:close/>
              </a:path>
            </a:pathLst>
          </a:custGeom>
          <a:blipFill>
            <a:blip r:embed="rId10">
              <a:extLst>
                <a:ext uri="{96DAC541-7B7A-43D3-8B79-37D633B846F1}">
                  <asvg:svgBlip xmlns:asvg="http://schemas.microsoft.com/office/drawing/2016/SVG/main" r:embed="rId11"/>
                </a:ext>
              </a:extLst>
            </a:blip>
            <a:stretch>
              <a:fillRect l="-121875" t="-121898" r="-10967" b="0"/>
            </a:stretch>
          </a:blipFill>
        </p:spPr>
      </p:sp>
      <p:grpSp>
        <p:nvGrpSpPr>
          <p:cNvPr name="Group 7" id="7"/>
          <p:cNvGrpSpPr/>
          <p:nvPr/>
        </p:nvGrpSpPr>
        <p:grpSpPr>
          <a:xfrm rot="0">
            <a:off x="9200001" y="6407837"/>
            <a:ext cx="7685099" cy="2850463"/>
            <a:chOff x="0" y="0"/>
            <a:chExt cx="20971950" cy="7778659"/>
          </a:xfrm>
        </p:grpSpPr>
        <p:sp>
          <p:nvSpPr>
            <p:cNvPr name="Freeform 8" id="8"/>
            <p:cNvSpPr/>
            <p:nvPr/>
          </p:nvSpPr>
          <p:spPr>
            <a:xfrm flipH="false" flipV="false" rot="0">
              <a:off x="0" y="0"/>
              <a:ext cx="20971949" cy="7778659"/>
            </a:xfrm>
            <a:custGeom>
              <a:avLst/>
              <a:gdLst/>
              <a:ahLst/>
              <a:cxnLst/>
              <a:rect r="r" b="b" t="t" l="l"/>
              <a:pathLst>
                <a:path h="7778659" w="20971949">
                  <a:moveTo>
                    <a:pt x="0" y="0"/>
                  </a:moveTo>
                  <a:lnTo>
                    <a:pt x="0" y="7778659"/>
                  </a:lnTo>
                  <a:lnTo>
                    <a:pt x="20971949" y="7778659"/>
                  </a:lnTo>
                  <a:lnTo>
                    <a:pt x="20971949" y="0"/>
                  </a:lnTo>
                  <a:lnTo>
                    <a:pt x="0" y="0"/>
                  </a:lnTo>
                  <a:close/>
                  <a:moveTo>
                    <a:pt x="20910990" y="7717699"/>
                  </a:moveTo>
                  <a:lnTo>
                    <a:pt x="59690" y="7717699"/>
                  </a:lnTo>
                  <a:lnTo>
                    <a:pt x="59690" y="59690"/>
                  </a:lnTo>
                  <a:lnTo>
                    <a:pt x="20910990" y="59690"/>
                  </a:lnTo>
                  <a:lnTo>
                    <a:pt x="20910990" y="7717699"/>
                  </a:lnTo>
                  <a:close/>
                </a:path>
              </a:pathLst>
            </a:custGeom>
            <a:solidFill>
              <a:srgbClr val="98EEF0"/>
            </a:solidFill>
          </p:spPr>
        </p:sp>
      </p:grpSp>
      <p:grpSp>
        <p:nvGrpSpPr>
          <p:cNvPr name="Group 9" id="9"/>
          <p:cNvGrpSpPr/>
          <p:nvPr/>
        </p:nvGrpSpPr>
        <p:grpSpPr>
          <a:xfrm rot="0">
            <a:off x="1028700" y="3077930"/>
            <a:ext cx="7685099" cy="2850463"/>
            <a:chOff x="0" y="0"/>
            <a:chExt cx="20971950" cy="7778659"/>
          </a:xfrm>
        </p:grpSpPr>
        <p:sp>
          <p:nvSpPr>
            <p:cNvPr name="Freeform 10" id="10"/>
            <p:cNvSpPr/>
            <p:nvPr/>
          </p:nvSpPr>
          <p:spPr>
            <a:xfrm flipH="false" flipV="false" rot="0">
              <a:off x="0" y="0"/>
              <a:ext cx="20971949" cy="7778659"/>
            </a:xfrm>
            <a:custGeom>
              <a:avLst/>
              <a:gdLst/>
              <a:ahLst/>
              <a:cxnLst/>
              <a:rect r="r" b="b" t="t" l="l"/>
              <a:pathLst>
                <a:path h="7778659" w="20971949">
                  <a:moveTo>
                    <a:pt x="0" y="0"/>
                  </a:moveTo>
                  <a:lnTo>
                    <a:pt x="0" y="7778659"/>
                  </a:lnTo>
                  <a:lnTo>
                    <a:pt x="20971949" y="7778659"/>
                  </a:lnTo>
                  <a:lnTo>
                    <a:pt x="20971949" y="0"/>
                  </a:lnTo>
                  <a:lnTo>
                    <a:pt x="0" y="0"/>
                  </a:lnTo>
                  <a:close/>
                  <a:moveTo>
                    <a:pt x="20910990" y="7717699"/>
                  </a:moveTo>
                  <a:lnTo>
                    <a:pt x="59690" y="7717699"/>
                  </a:lnTo>
                  <a:lnTo>
                    <a:pt x="59690" y="59690"/>
                  </a:lnTo>
                  <a:lnTo>
                    <a:pt x="20910990" y="59690"/>
                  </a:lnTo>
                  <a:lnTo>
                    <a:pt x="20910990" y="7717699"/>
                  </a:lnTo>
                  <a:close/>
                </a:path>
              </a:pathLst>
            </a:custGeom>
            <a:solidFill>
              <a:srgbClr val="98EEF0"/>
            </a:solidFill>
          </p:spPr>
        </p:sp>
      </p:grpSp>
      <p:grpSp>
        <p:nvGrpSpPr>
          <p:cNvPr name="Group 11" id="11"/>
          <p:cNvGrpSpPr/>
          <p:nvPr/>
        </p:nvGrpSpPr>
        <p:grpSpPr>
          <a:xfrm rot="0">
            <a:off x="1585932" y="3843841"/>
            <a:ext cx="6570636" cy="1318642"/>
            <a:chOff x="0" y="0"/>
            <a:chExt cx="8760848" cy="1758189"/>
          </a:xfrm>
        </p:grpSpPr>
        <p:sp>
          <p:nvSpPr>
            <p:cNvPr name="TextBox 12" id="12"/>
            <p:cNvSpPr txBox="true"/>
            <p:nvPr/>
          </p:nvSpPr>
          <p:spPr>
            <a:xfrm rot="0">
              <a:off x="0" y="919818"/>
              <a:ext cx="8760848" cy="838370"/>
            </a:xfrm>
            <a:prstGeom prst="rect">
              <a:avLst/>
            </a:prstGeom>
          </p:spPr>
          <p:txBody>
            <a:bodyPr anchor="t" rtlCol="false" tIns="0" lIns="0" bIns="0" rIns="0">
              <a:spAutoFit/>
            </a:bodyPr>
            <a:lstStyle/>
            <a:p>
              <a:pPr algn="l" marL="0" indent="0" lvl="0">
                <a:lnSpc>
                  <a:spcPts val="2617"/>
                </a:lnSpc>
              </a:pPr>
              <a:r>
                <a:rPr lang="en-US" sz="1869">
                  <a:solidFill>
                    <a:srgbClr val="000000"/>
                  </a:solidFill>
                  <a:latin typeface="Dekko"/>
                  <a:ea typeface="Dekko"/>
                  <a:cs typeface="Dekko"/>
                  <a:sym typeface="Dekko"/>
                </a:rPr>
                <a:t>Give columns meaningful </a:t>
              </a:r>
              <a:r>
                <a:rPr lang="en-US" sz="1869">
                  <a:solidFill>
                    <a:srgbClr val="000000"/>
                  </a:solidFill>
                  <a:latin typeface="Dekko"/>
                  <a:ea typeface="Dekko"/>
                  <a:cs typeface="Dekko"/>
                  <a:sym typeface="Dekko"/>
                </a:rPr>
                <a:t>and consistent names to make the dataset easier to understand and work with</a:t>
              </a:r>
            </a:p>
          </p:txBody>
        </p:sp>
        <p:sp>
          <p:nvSpPr>
            <p:cNvPr name="TextBox 13" id="13"/>
            <p:cNvSpPr txBox="true"/>
            <p:nvPr/>
          </p:nvSpPr>
          <p:spPr>
            <a:xfrm rot="0">
              <a:off x="0" y="-57150"/>
              <a:ext cx="8760848" cy="665395"/>
            </a:xfrm>
            <a:prstGeom prst="rect">
              <a:avLst/>
            </a:prstGeom>
          </p:spPr>
          <p:txBody>
            <a:bodyPr anchor="t" rtlCol="false" tIns="0" lIns="0" bIns="0" rIns="0">
              <a:spAutoFit/>
            </a:bodyPr>
            <a:lstStyle/>
            <a:p>
              <a:pPr algn="l" marL="0" indent="0" lvl="0">
                <a:lnSpc>
                  <a:spcPts val="4256"/>
                </a:lnSpc>
              </a:pPr>
              <a:r>
                <a:rPr lang="en-US" sz="3040">
                  <a:solidFill>
                    <a:srgbClr val="000000"/>
                  </a:solidFill>
                  <a:latin typeface="Marykate"/>
                  <a:ea typeface="Marykate"/>
                  <a:cs typeface="Marykate"/>
                  <a:sym typeface="Marykate"/>
                </a:rPr>
                <a:t>1.Renaming Columns</a:t>
              </a:r>
            </a:p>
          </p:txBody>
        </p:sp>
      </p:grpSp>
      <p:grpSp>
        <p:nvGrpSpPr>
          <p:cNvPr name="Group 14" id="14"/>
          <p:cNvGrpSpPr/>
          <p:nvPr/>
        </p:nvGrpSpPr>
        <p:grpSpPr>
          <a:xfrm rot="0">
            <a:off x="1028700" y="6407837"/>
            <a:ext cx="7685099" cy="2850463"/>
            <a:chOff x="0" y="0"/>
            <a:chExt cx="20971950" cy="7778659"/>
          </a:xfrm>
        </p:grpSpPr>
        <p:sp>
          <p:nvSpPr>
            <p:cNvPr name="Freeform 15" id="15"/>
            <p:cNvSpPr/>
            <p:nvPr/>
          </p:nvSpPr>
          <p:spPr>
            <a:xfrm flipH="false" flipV="false" rot="0">
              <a:off x="0" y="0"/>
              <a:ext cx="20971949" cy="7778659"/>
            </a:xfrm>
            <a:custGeom>
              <a:avLst/>
              <a:gdLst/>
              <a:ahLst/>
              <a:cxnLst/>
              <a:rect r="r" b="b" t="t" l="l"/>
              <a:pathLst>
                <a:path h="7778659" w="20971949">
                  <a:moveTo>
                    <a:pt x="0" y="0"/>
                  </a:moveTo>
                  <a:lnTo>
                    <a:pt x="0" y="7778659"/>
                  </a:lnTo>
                  <a:lnTo>
                    <a:pt x="20971949" y="7778659"/>
                  </a:lnTo>
                  <a:lnTo>
                    <a:pt x="20971949" y="0"/>
                  </a:lnTo>
                  <a:lnTo>
                    <a:pt x="0" y="0"/>
                  </a:lnTo>
                  <a:close/>
                  <a:moveTo>
                    <a:pt x="20910990" y="7717699"/>
                  </a:moveTo>
                  <a:lnTo>
                    <a:pt x="59690" y="7717699"/>
                  </a:lnTo>
                  <a:lnTo>
                    <a:pt x="59690" y="59690"/>
                  </a:lnTo>
                  <a:lnTo>
                    <a:pt x="20910990" y="59690"/>
                  </a:lnTo>
                  <a:lnTo>
                    <a:pt x="20910990" y="7717699"/>
                  </a:lnTo>
                  <a:close/>
                </a:path>
              </a:pathLst>
            </a:custGeom>
            <a:solidFill>
              <a:srgbClr val="98EEF0"/>
            </a:solidFill>
          </p:spPr>
        </p:sp>
      </p:grpSp>
      <p:grpSp>
        <p:nvGrpSpPr>
          <p:cNvPr name="Group 16" id="16"/>
          <p:cNvGrpSpPr/>
          <p:nvPr/>
        </p:nvGrpSpPr>
        <p:grpSpPr>
          <a:xfrm rot="0">
            <a:off x="1585932" y="7011823"/>
            <a:ext cx="6570636" cy="1642492"/>
            <a:chOff x="0" y="0"/>
            <a:chExt cx="8760848" cy="2189989"/>
          </a:xfrm>
        </p:grpSpPr>
        <p:sp>
          <p:nvSpPr>
            <p:cNvPr name="TextBox 17" id="17"/>
            <p:cNvSpPr txBox="true"/>
            <p:nvPr/>
          </p:nvSpPr>
          <p:spPr>
            <a:xfrm rot="0">
              <a:off x="0" y="919818"/>
              <a:ext cx="8760848" cy="1270170"/>
            </a:xfrm>
            <a:prstGeom prst="rect">
              <a:avLst/>
            </a:prstGeom>
          </p:spPr>
          <p:txBody>
            <a:bodyPr anchor="t" rtlCol="false" tIns="0" lIns="0" bIns="0" rIns="0">
              <a:spAutoFit/>
            </a:bodyPr>
            <a:lstStyle/>
            <a:p>
              <a:pPr algn="l" marL="0" indent="0" lvl="0">
                <a:lnSpc>
                  <a:spcPts val="2617"/>
                </a:lnSpc>
              </a:pPr>
              <a:r>
                <a:rPr lang="en-US" sz="1869">
                  <a:solidFill>
                    <a:srgbClr val="000000"/>
                  </a:solidFill>
                  <a:latin typeface="Dekko"/>
                  <a:ea typeface="Dekko"/>
                  <a:cs typeface="Dekko"/>
                  <a:sym typeface="Dekko"/>
                </a:rPr>
                <a:t>Look fo</a:t>
              </a:r>
              <a:r>
                <a:rPr lang="en-US" sz="1869">
                  <a:solidFill>
                    <a:srgbClr val="000000"/>
                  </a:solidFill>
                  <a:latin typeface="Dekko"/>
                  <a:ea typeface="Dekko"/>
                  <a:cs typeface="Dekko"/>
                  <a:sym typeface="Dekko"/>
                </a:rPr>
                <a:t>r unusual or incorrect price entries and Remove or adjust extreme values in numeric columns that do not represent typical data to improve model accuracy.</a:t>
              </a:r>
            </a:p>
          </p:txBody>
        </p:sp>
        <p:sp>
          <p:nvSpPr>
            <p:cNvPr name="TextBox 18" id="18"/>
            <p:cNvSpPr txBox="true"/>
            <p:nvPr/>
          </p:nvSpPr>
          <p:spPr>
            <a:xfrm rot="0">
              <a:off x="0" y="-57150"/>
              <a:ext cx="8760848" cy="665395"/>
            </a:xfrm>
            <a:prstGeom prst="rect">
              <a:avLst/>
            </a:prstGeom>
          </p:spPr>
          <p:txBody>
            <a:bodyPr anchor="t" rtlCol="false" tIns="0" lIns="0" bIns="0" rIns="0">
              <a:spAutoFit/>
            </a:bodyPr>
            <a:lstStyle/>
            <a:p>
              <a:pPr algn="l" marL="0" indent="0" lvl="0">
                <a:lnSpc>
                  <a:spcPts val="4256"/>
                </a:lnSpc>
              </a:pPr>
              <a:r>
                <a:rPr lang="en-US" sz="3040">
                  <a:solidFill>
                    <a:srgbClr val="000000"/>
                  </a:solidFill>
                  <a:latin typeface="Marykate"/>
                  <a:ea typeface="Marykate"/>
                  <a:cs typeface="Marykate"/>
                  <a:sym typeface="Marykate"/>
                </a:rPr>
                <a:t>3.Detect and Handle Outliers</a:t>
              </a:r>
            </a:p>
          </p:txBody>
        </p:sp>
      </p:grpSp>
      <p:grpSp>
        <p:nvGrpSpPr>
          <p:cNvPr name="Group 19" id="19"/>
          <p:cNvGrpSpPr/>
          <p:nvPr/>
        </p:nvGrpSpPr>
        <p:grpSpPr>
          <a:xfrm rot="0">
            <a:off x="9200001" y="3077930"/>
            <a:ext cx="7685099" cy="2850463"/>
            <a:chOff x="0" y="0"/>
            <a:chExt cx="20971950" cy="7778659"/>
          </a:xfrm>
        </p:grpSpPr>
        <p:sp>
          <p:nvSpPr>
            <p:cNvPr name="Freeform 20" id="20"/>
            <p:cNvSpPr/>
            <p:nvPr/>
          </p:nvSpPr>
          <p:spPr>
            <a:xfrm flipH="false" flipV="false" rot="0">
              <a:off x="0" y="0"/>
              <a:ext cx="20971949" cy="7778659"/>
            </a:xfrm>
            <a:custGeom>
              <a:avLst/>
              <a:gdLst/>
              <a:ahLst/>
              <a:cxnLst/>
              <a:rect r="r" b="b" t="t" l="l"/>
              <a:pathLst>
                <a:path h="7778659" w="20971949">
                  <a:moveTo>
                    <a:pt x="0" y="0"/>
                  </a:moveTo>
                  <a:lnTo>
                    <a:pt x="0" y="7778659"/>
                  </a:lnTo>
                  <a:lnTo>
                    <a:pt x="20971949" y="7778659"/>
                  </a:lnTo>
                  <a:lnTo>
                    <a:pt x="20971949" y="0"/>
                  </a:lnTo>
                  <a:lnTo>
                    <a:pt x="0" y="0"/>
                  </a:lnTo>
                  <a:close/>
                  <a:moveTo>
                    <a:pt x="20910990" y="7717699"/>
                  </a:moveTo>
                  <a:lnTo>
                    <a:pt x="59690" y="7717699"/>
                  </a:lnTo>
                  <a:lnTo>
                    <a:pt x="59690" y="59690"/>
                  </a:lnTo>
                  <a:lnTo>
                    <a:pt x="20910990" y="59690"/>
                  </a:lnTo>
                  <a:lnTo>
                    <a:pt x="20910990" y="7717699"/>
                  </a:lnTo>
                  <a:close/>
                </a:path>
              </a:pathLst>
            </a:custGeom>
            <a:solidFill>
              <a:srgbClr val="98EEF0"/>
            </a:solidFill>
          </p:spPr>
        </p:sp>
      </p:grpSp>
      <p:grpSp>
        <p:nvGrpSpPr>
          <p:cNvPr name="Group 21" id="21"/>
          <p:cNvGrpSpPr/>
          <p:nvPr/>
        </p:nvGrpSpPr>
        <p:grpSpPr>
          <a:xfrm rot="0">
            <a:off x="9757232" y="3843841"/>
            <a:ext cx="6570636" cy="1318642"/>
            <a:chOff x="0" y="0"/>
            <a:chExt cx="8760848" cy="1758189"/>
          </a:xfrm>
        </p:grpSpPr>
        <p:sp>
          <p:nvSpPr>
            <p:cNvPr name="TextBox 22" id="22"/>
            <p:cNvSpPr txBox="true"/>
            <p:nvPr/>
          </p:nvSpPr>
          <p:spPr>
            <a:xfrm rot="0">
              <a:off x="0" y="919818"/>
              <a:ext cx="8760848" cy="838370"/>
            </a:xfrm>
            <a:prstGeom prst="rect">
              <a:avLst/>
            </a:prstGeom>
          </p:spPr>
          <p:txBody>
            <a:bodyPr anchor="t" rtlCol="false" tIns="0" lIns="0" bIns="0" rIns="0">
              <a:spAutoFit/>
            </a:bodyPr>
            <a:lstStyle/>
            <a:p>
              <a:pPr algn="l" marL="0" indent="0" lvl="0">
                <a:lnSpc>
                  <a:spcPts val="2617"/>
                </a:lnSpc>
              </a:pPr>
              <a:r>
                <a:rPr lang="en-US" sz="1869">
                  <a:solidFill>
                    <a:srgbClr val="000000"/>
                  </a:solidFill>
                  <a:latin typeface="Dekko"/>
                  <a:ea typeface="Dekko"/>
                  <a:cs typeface="Dekko"/>
                  <a:sym typeface="Dekko"/>
                </a:rPr>
                <a:t>Identify any null o</a:t>
              </a:r>
              <a:r>
                <a:rPr lang="en-US" sz="1869">
                  <a:solidFill>
                    <a:srgbClr val="000000"/>
                  </a:solidFill>
                  <a:latin typeface="Dekko"/>
                  <a:ea typeface="Dekko"/>
                  <a:cs typeface="Dekko"/>
                  <a:sym typeface="Dekko"/>
                </a:rPr>
                <a:t>r missing data in the dataset to decide whether to fill, remove, or impute them</a:t>
              </a:r>
            </a:p>
          </p:txBody>
        </p:sp>
        <p:sp>
          <p:nvSpPr>
            <p:cNvPr name="TextBox 23" id="23"/>
            <p:cNvSpPr txBox="true"/>
            <p:nvPr/>
          </p:nvSpPr>
          <p:spPr>
            <a:xfrm rot="0">
              <a:off x="0" y="-57150"/>
              <a:ext cx="8760848" cy="665395"/>
            </a:xfrm>
            <a:prstGeom prst="rect">
              <a:avLst/>
            </a:prstGeom>
          </p:spPr>
          <p:txBody>
            <a:bodyPr anchor="t" rtlCol="false" tIns="0" lIns="0" bIns="0" rIns="0">
              <a:spAutoFit/>
            </a:bodyPr>
            <a:lstStyle/>
            <a:p>
              <a:pPr algn="l" marL="0" indent="0" lvl="0">
                <a:lnSpc>
                  <a:spcPts val="4256"/>
                </a:lnSpc>
              </a:pPr>
              <a:r>
                <a:rPr lang="en-US" sz="3040">
                  <a:solidFill>
                    <a:srgbClr val="000000"/>
                  </a:solidFill>
                  <a:latin typeface="Marykate"/>
                  <a:ea typeface="Marykate"/>
                  <a:cs typeface="Marykate"/>
                  <a:sym typeface="Marykate"/>
                </a:rPr>
                <a:t>2.Missing values</a:t>
              </a:r>
            </a:p>
          </p:txBody>
        </p:sp>
      </p:grpSp>
      <p:grpSp>
        <p:nvGrpSpPr>
          <p:cNvPr name="Group 24" id="24"/>
          <p:cNvGrpSpPr/>
          <p:nvPr/>
        </p:nvGrpSpPr>
        <p:grpSpPr>
          <a:xfrm rot="0">
            <a:off x="9757232" y="7011823"/>
            <a:ext cx="6570636" cy="1642492"/>
            <a:chOff x="0" y="0"/>
            <a:chExt cx="8760848" cy="2189989"/>
          </a:xfrm>
        </p:grpSpPr>
        <p:sp>
          <p:nvSpPr>
            <p:cNvPr name="TextBox 25" id="25"/>
            <p:cNvSpPr txBox="true"/>
            <p:nvPr/>
          </p:nvSpPr>
          <p:spPr>
            <a:xfrm rot="0">
              <a:off x="0" y="919818"/>
              <a:ext cx="8760848" cy="1270170"/>
            </a:xfrm>
            <a:prstGeom prst="rect">
              <a:avLst/>
            </a:prstGeom>
          </p:spPr>
          <p:txBody>
            <a:bodyPr anchor="t" rtlCol="false" tIns="0" lIns="0" bIns="0" rIns="0">
              <a:spAutoFit/>
            </a:bodyPr>
            <a:lstStyle/>
            <a:p>
              <a:pPr algn="l" marL="0" indent="0" lvl="0">
                <a:lnSpc>
                  <a:spcPts val="2617"/>
                </a:lnSpc>
              </a:pPr>
              <a:r>
                <a:rPr lang="en-US" sz="1869">
                  <a:solidFill>
                    <a:srgbClr val="000000"/>
                  </a:solidFill>
                  <a:latin typeface="Dekko"/>
                  <a:ea typeface="Dekko"/>
                  <a:cs typeface="Dekko"/>
                  <a:sym typeface="Dekko"/>
                </a:rPr>
                <a:t>Ensu</a:t>
              </a:r>
              <a:r>
                <a:rPr lang="en-US" sz="1869">
                  <a:solidFill>
                    <a:srgbClr val="000000"/>
                  </a:solidFill>
                  <a:latin typeface="Dekko"/>
                  <a:ea typeface="Dekko"/>
                  <a:cs typeface="Dekko"/>
                  <a:sym typeface="Dekko"/>
                </a:rPr>
                <a:t>res consistency in text data by correcting spelling variations, extra spaces, and inconsistent naming or casing (e.g., "Kerala" vs "kerala" or "Green Chili" vs "Green Chilli").</a:t>
              </a:r>
            </a:p>
          </p:txBody>
        </p:sp>
        <p:sp>
          <p:nvSpPr>
            <p:cNvPr name="TextBox 26" id="26"/>
            <p:cNvSpPr txBox="true"/>
            <p:nvPr/>
          </p:nvSpPr>
          <p:spPr>
            <a:xfrm rot="0">
              <a:off x="0" y="-57150"/>
              <a:ext cx="8760848" cy="665395"/>
            </a:xfrm>
            <a:prstGeom prst="rect">
              <a:avLst/>
            </a:prstGeom>
          </p:spPr>
          <p:txBody>
            <a:bodyPr anchor="t" rtlCol="false" tIns="0" lIns="0" bIns="0" rIns="0">
              <a:spAutoFit/>
            </a:bodyPr>
            <a:lstStyle/>
            <a:p>
              <a:pPr algn="l" marL="0" indent="0" lvl="0">
                <a:lnSpc>
                  <a:spcPts val="4256"/>
                </a:lnSpc>
              </a:pPr>
              <a:r>
                <a:rPr lang="en-US" sz="3040">
                  <a:solidFill>
                    <a:srgbClr val="000000"/>
                  </a:solidFill>
                  <a:latin typeface="Marykate"/>
                  <a:ea typeface="Marykate"/>
                  <a:cs typeface="Marykate"/>
                  <a:sym typeface="Marykate"/>
                </a:rPr>
                <a:t>4.Standardize Categorical Values</a:t>
              </a:r>
            </a:p>
          </p:txBody>
        </p:sp>
      </p:grpSp>
      <p:sp>
        <p:nvSpPr>
          <p:cNvPr name="AutoShape 27" id="27"/>
          <p:cNvSpPr/>
          <p:nvPr/>
        </p:nvSpPr>
        <p:spPr>
          <a:xfrm rot="0">
            <a:off x="-408197" y="-316149"/>
            <a:ext cx="19018703" cy="2632375"/>
          </a:xfrm>
          <a:prstGeom prst="rect">
            <a:avLst/>
          </a:prstGeom>
          <a:solidFill>
            <a:srgbClr val="7E7CD4"/>
          </a:solidFill>
        </p:spPr>
      </p:sp>
      <p:sp>
        <p:nvSpPr>
          <p:cNvPr name="TextBox 28" id="28"/>
          <p:cNvSpPr txBox="true"/>
          <p:nvPr/>
        </p:nvSpPr>
        <p:spPr>
          <a:xfrm rot="0">
            <a:off x="1028700" y="616575"/>
            <a:ext cx="11115710" cy="1052678"/>
          </a:xfrm>
          <a:prstGeom prst="rect">
            <a:avLst/>
          </a:prstGeom>
        </p:spPr>
        <p:txBody>
          <a:bodyPr anchor="t" rtlCol="false" tIns="0" lIns="0" bIns="0" rIns="0">
            <a:spAutoFit/>
          </a:bodyPr>
          <a:lstStyle/>
          <a:p>
            <a:pPr algn="l" marL="0" indent="0" lvl="0">
              <a:lnSpc>
                <a:spcPts val="8595"/>
              </a:lnSpc>
            </a:pPr>
            <a:r>
              <a:rPr lang="en-US" sz="6319">
                <a:solidFill>
                  <a:srgbClr val="000000"/>
                </a:solidFill>
                <a:latin typeface="Marykate"/>
                <a:ea typeface="Marykate"/>
                <a:cs typeface="Marykate"/>
                <a:sym typeface="Marykate"/>
              </a:rPr>
              <a:t>Data Cleaning Techniques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7E7CD4"/>
        </a:solidFill>
      </p:bgPr>
    </p:bg>
    <p:spTree>
      <p:nvGrpSpPr>
        <p:cNvPr id="1" name=""/>
        <p:cNvGrpSpPr/>
        <p:nvPr/>
      </p:nvGrpSpPr>
      <p:grpSpPr>
        <a:xfrm>
          <a:off x="0" y="0"/>
          <a:ext cx="0" cy="0"/>
          <a:chOff x="0" y="0"/>
          <a:chExt cx="0" cy="0"/>
        </a:xfrm>
      </p:grpSpPr>
      <p:sp>
        <p:nvSpPr>
          <p:cNvPr name="Freeform 2" id="2"/>
          <p:cNvSpPr/>
          <p:nvPr/>
        </p:nvSpPr>
        <p:spPr>
          <a:xfrm flipH="false" flipV="false" rot="0">
            <a:off x="4098000" y="328389"/>
            <a:ext cx="13795188" cy="9630222"/>
          </a:xfrm>
          <a:custGeom>
            <a:avLst/>
            <a:gdLst/>
            <a:ahLst/>
            <a:cxnLst/>
            <a:rect r="r" b="b" t="t" l="l"/>
            <a:pathLst>
              <a:path h="9630222" w="13795188">
                <a:moveTo>
                  <a:pt x="0" y="0"/>
                </a:moveTo>
                <a:lnTo>
                  <a:pt x="13795188" y="0"/>
                </a:lnTo>
                <a:lnTo>
                  <a:pt x="13795188" y="9630222"/>
                </a:lnTo>
                <a:lnTo>
                  <a:pt x="0" y="9630222"/>
                </a:lnTo>
                <a:lnTo>
                  <a:pt x="0" y="0"/>
                </a:lnTo>
                <a:close/>
              </a:path>
            </a:pathLst>
          </a:custGeom>
          <a:blipFill>
            <a:blip r:embed="rId2"/>
            <a:stretch>
              <a:fillRect l="0" t="0" r="-24104" b="0"/>
            </a:stretch>
          </a:blipFill>
        </p:spPr>
      </p:sp>
      <p:sp>
        <p:nvSpPr>
          <p:cNvPr name="TextBox 3" id="3"/>
          <p:cNvSpPr txBox="true"/>
          <p:nvPr/>
        </p:nvSpPr>
        <p:spPr>
          <a:xfrm rot="0">
            <a:off x="210330" y="1976756"/>
            <a:ext cx="3887670" cy="2370943"/>
          </a:xfrm>
          <a:prstGeom prst="rect">
            <a:avLst/>
          </a:prstGeom>
        </p:spPr>
        <p:txBody>
          <a:bodyPr anchor="t" rtlCol="false" tIns="0" lIns="0" bIns="0" rIns="0">
            <a:spAutoFit/>
          </a:bodyPr>
          <a:lstStyle/>
          <a:p>
            <a:pPr algn="ctr">
              <a:lnSpc>
                <a:spcPts val="9493"/>
              </a:lnSpc>
            </a:pPr>
            <a:r>
              <a:rPr lang="en-US" sz="6780">
                <a:solidFill>
                  <a:srgbClr val="000000"/>
                </a:solidFill>
                <a:latin typeface="Marykate"/>
                <a:ea typeface="Marykate"/>
                <a:cs typeface="Marykate"/>
                <a:sym typeface="Marykate"/>
              </a:rPr>
              <a:t>Cleaned </a:t>
            </a:r>
          </a:p>
          <a:p>
            <a:pPr algn="ctr">
              <a:lnSpc>
                <a:spcPts val="9493"/>
              </a:lnSpc>
            </a:pPr>
            <a:r>
              <a:rPr lang="en-US" sz="6780">
                <a:solidFill>
                  <a:srgbClr val="000000"/>
                </a:solidFill>
                <a:latin typeface="Marykate"/>
                <a:ea typeface="Marykate"/>
                <a:cs typeface="Marykate"/>
                <a:sym typeface="Marykate"/>
              </a:rPr>
              <a:t>Dataset</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210699" y="2187924"/>
            <a:ext cx="11978754" cy="1181098"/>
          </a:xfrm>
          <a:prstGeom prst="rect">
            <a:avLst/>
          </a:prstGeom>
        </p:spPr>
        <p:txBody>
          <a:bodyPr anchor="t" rtlCol="false" tIns="0" lIns="0" bIns="0" rIns="0">
            <a:spAutoFit/>
          </a:bodyPr>
          <a:lstStyle/>
          <a:p>
            <a:pPr algn="l" marL="0" indent="0" lvl="0">
              <a:lnSpc>
                <a:spcPts val="8924"/>
              </a:lnSpc>
            </a:pPr>
            <a:r>
              <a:rPr lang="en-US" sz="8499">
                <a:solidFill>
                  <a:srgbClr val="000000"/>
                </a:solidFill>
                <a:latin typeface="Marykate"/>
                <a:ea typeface="Marykate"/>
                <a:cs typeface="Marykate"/>
                <a:sym typeface="Marykate"/>
              </a:rPr>
              <a:t>Exploratory Data Analysis (EDA)</a:t>
            </a:r>
          </a:p>
        </p:txBody>
      </p:sp>
      <p:sp>
        <p:nvSpPr>
          <p:cNvPr name="AutoShape 3" id="3"/>
          <p:cNvSpPr/>
          <p:nvPr/>
        </p:nvSpPr>
        <p:spPr>
          <a:xfrm>
            <a:off x="2210699" y="4069111"/>
            <a:ext cx="13844095" cy="0"/>
          </a:xfrm>
          <a:prstGeom prst="line">
            <a:avLst/>
          </a:prstGeom>
          <a:ln cap="flat" w="38100">
            <a:solidFill>
              <a:srgbClr val="7E7CD4"/>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91776" y="869070"/>
            <a:ext cx="6953886" cy="981075"/>
          </a:xfrm>
          <a:prstGeom prst="rect">
            <a:avLst/>
          </a:prstGeom>
        </p:spPr>
        <p:txBody>
          <a:bodyPr anchor="t" rtlCol="false" tIns="0" lIns="0" bIns="0" rIns="0">
            <a:spAutoFit/>
          </a:bodyPr>
          <a:lstStyle/>
          <a:p>
            <a:pPr algn="l" marL="0" indent="0" lvl="0">
              <a:lnSpc>
                <a:spcPts val="7679"/>
              </a:lnSpc>
              <a:spcBef>
                <a:spcPct val="0"/>
              </a:spcBef>
            </a:pPr>
            <a:r>
              <a:rPr lang="en-US" sz="6399">
                <a:solidFill>
                  <a:srgbClr val="000000"/>
                </a:solidFill>
                <a:latin typeface="Marykate"/>
                <a:ea typeface="Marykate"/>
                <a:cs typeface="Marykate"/>
                <a:sym typeface="Marykate"/>
              </a:rPr>
              <a:t>1.B</a:t>
            </a:r>
            <a:r>
              <a:rPr lang="en-US" sz="6399">
                <a:solidFill>
                  <a:srgbClr val="000000"/>
                </a:solidFill>
                <a:latin typeface="Marykate"/>
                <a:ea typeface="Marykate"/>
                <a:cs typeface="Marykate"/>
                <a:sym typeface="Marykate"/>
              </a:rPr>
              <a:t>asic Summary</a:t>
            </a:r>
          </a:p>
        </p:txBody>
      </p:sp>
      <p:sp>
        <p:nvSpPr>
          <p:cNvPr name="TextBox 3" id="3"/>
          <p:cNvSpPr txBox="true"/>
          <p:nvPr/>
        </p:nvSpPr>
        <p:spPr>
          <a:xfrm rot="0">
            <a:off x="9718359" y="383295"/>
            <a:ext cx="6953886" cy="1952625"/>
          </a:xfrm>
          <a:prstGeom prst="rect">
            <a:avLst/>
          </a:prstGeom>
        </p:spPr>
        <p:txBody>
          <a:bodyPr anchor="t" rtlCol="false" tIns="0" lIns="0" bIns="0" rIns="0">
            <a:spAutoFit/>
          </a:bodyPr>
          <a:lstStyle/>
          <a:p>
            <a:pPr algn="l" marL="0" indent="0" lvl="0">
              <a:lnSpc>
                <a:spcPts val="7679"/>
              </a:lnSpc>
              <a:spcBef>
                <a:spcPct val="0"/>
              </a:spcBef>
            </a:pPr>
            <a:r>
              <a:rPr lang="en-US" sz="6399">
                <a:solidFill>
                  <a:srgbClr val="000000"/>
                </a:solidFill>
                <a:latin typeface="Marykate"/>
                <a:ea typeface="Marykate"/>
                <a:cs typeface="Marykate"/>
                <a:sym typeface="Marykate"/>
              </a:rPr>
              <a:t>2.Descriptive</a:t>
            </a:r>
            <a:r>
              <a:rPr lang="en-US" sz="6399">
                <a:solidFill>
                  <a:srgbClr val="000000"/>
                </a:solidFill>
                <a:latin typeface="Marykate"/>
                <a:ea typeface="Marykate"/>
                <a:cs typeface="Marykate"/>
                <a:sym typeface="Marykate"/>
              </a:rPr>
              <a:t> Statistics for Numeric Variables</a:t>
            </a:r>
          </a:p>
        </p:txBody>
      </p:sp>
      <p:sp>
        <p:nvSpPr>
          <p:cNvPr name="TextBox 4" id="4"/>
          <p:cNvSpPr txBox="true"/>
          <p:nvPr/>
        </p:nvSpPr>
        <p:spPr>
          <a:xfrm rot="0">
            <a:off x="848423" y="3175127"/>
            <a:ext cx="6953886" cy="5208270"/>
          </a:xfrm>
          <a:prstGeom prst="rect">
            <a:avLst/>
          </a:prstGeom>
        </p:spPr>
        <p:txBody>
          <a:bodyPr anchor="t" rtlCol="false" tIns="0" lIns="0" bIns="0" rIns="0">
            <a:spAutoFit/>
          </a:bodyPr>
          <a:lstStyle/>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Th</a:t>
            </a:r>
            <a:r>
              <a:rPr lang="en-US" sz="2799">
                <a:solidFill>
                  <a:srgbClr val="000000"/>
                </a:solidFill>
                <a:latin typeface="Open Sans 2"/>
                <a:ea typeface="Open Sans 2"/>
                <a:cs typeface="Open Sans 2"/>
                <a:sym typeface="Open Sans 2"/>
              </a:rPr>
              <a:t>e summary() function provides an overview of numeric variables.</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It shows:</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Minimum, 1st Quartile, Median, M</a:t>
            </a:r>
            <a:r>
              <a:rPr lang="en-US" sz="2799">
                <a:solidFill>
                  <a:srgbClr val="000000"/>
                </a:solidFill>
                <a:latin typeface="Open Sans 2"/>
                <a:ea typeface="Open Sans 2"/>
                <a:cs typeface="Open Sans 2"/>
                <a:sym typeface="Open Sans 2"/>
              </a:rPr>
              <a:t>ean, 3rd Quartile, Maximum.</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Also counts NAs if present.</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Purpose: To quickly understand the range and central tendency of the dataset.</a:t>
            </a:r>
          </a:p>
          <a:p>
            <a:pPr algn="l" marL="0" indent="0" lvl="0">
              <a:lnSpc>
                <a:spcPts val="4199"/>
              </a:lnSpc>
              <a:spcBef>
                <a:spcPct val="0"/>
              </a:spcBef>
            </a:pPr>
          </a:p>
        </p:txBody>
      </p:sp>
      <p:sp>
        <p:nvSpPr>
          <p:cNvPr name="TextBox 5" id="5"/>
          <p:cNvSpPr txBox="true"/>
          <p:nvPr/>
        </p:nvSpPr>
        <p:spPr>
          <a:xfrm rot="0">
            <a:off x="9718359" y="2459355"/>
            <a:ext cx="6953886" cy="7827645"/>
          </a:xfrm>
          <a:prstGeom prst="rect">
            <a:avLst/>
          </a:prstGeom>
        </p:spPr>
        <p:txBody>
          <a:bodyPr anchor="t" rtlCol="false" tIns="0" lIns="0" bIns="0" rIns="0">
            <a:spAutoFit/>
          </a:bodyPr>
          <a:lstStyle/>
          <a:p>
            <a:pPr algn="l">
              <a:lnSpc>
                <a:spcPts val="4199"/>
              </a:lnSpc>
            </a:pP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Variance → how spread out values are.</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Standard Deviation → typical d</a:t>
            </a:r>
            <a:r>
              <a:rPr lang="en-US" sz="2799">
                <a:solidFill>
                  <a:srgbClr val="000000"/>
                </a:solidFill>
                <a:latin typeface="Open Sans 2"/>
                <a:ea typeface="Open Sans 2"/>
                <a:cs typeface="Open Sans 2"/>
                <a:sym typeface="Open Sans 2"/>
              </a:rPr>
              <a:t>eviation from mean.</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Skewness → whether data is left- or right-skewed.</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Kurtosis → how peaked or flat the distribution is.</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Packages like psych and skimr give detailed numeric insights.</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Purpose: To detect patterns like stability, outliers, or irregular distributions in prices.</a:t>
            </a:r>
          </a:p>
          <a:p>
            <a:pPr algn="l" marL="0" indent="0" lvl="0">
              <a:lnSpc>
                <a:spcPts val="419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15755" y="747945"/>
            <a:ext cx="6953886" cy="1952625"/>
          </a:xfrm>
          <a:prstGeom prst="rect">
            <a:avLst/>
          </a:prstGeom>
        </p:spPr>
        <p:txBody>
          <a:bodyPr anchor="t" rtlCol="false" tIns="0" lIns="0" bIns="0" rIns="0">
            <a:spAutoFit/>
          </a:bodyPr>
          <a:lstStyle/>
          <a:p>
            <a:pPr algn="l" marL="0" indent="0" lvl="0">
              <a:lnSpc>
                <a:spcPts val="7679"/>
              </a:lnSpc>
              <a:spcBef>
                <a:spcPct val="0"/>
              </a:spcBef>
            </a:pPr>
            <a:r>
              <a:rPr lang="en-US" sz="6399">
                <a:solidFill>
                  <a:srgbClr val="000000"/>
                </a:solidFill>
                <a:latin typeface="Marykate"/>
                <a:ea typeface="Marykate"/>
                <a:cs typeface="Marykate"/>
                <a:sym typeface="Marykate"/>
              </a:rPr>
              <a:t> 3.Frequency Tables for Categorical Variables</a:t>
            </a:r>
          </a:p>
        </p:txBody>
      </p:sp>
      <p:sp>
        <p:nvSpPr>
          <p:cNvPr name="TextBox 3" id="3"/>
          <p:cNvSpPr txBox="true"/>
          <p:nvPr/>
        </p:nvSpPr>
        <p:spPr>
          <a:xfrm rot="0">
            <a:off x="9718359" y="747945"/>
            <a:ext cx="6953886" cy="1952625"/>
          </a:xfrm>
          <a:prstGeom prst="rect">
            <a:avLst/>
          </a:prstGeom>
        </p:spPr>
        <p:txBody>
          <a:bodyPr anchor="t" rtlCol="false" tIns="0" lIns="0" bIns="0" rIns="0">
            <a:spAutoFit/>
          </a:bodyPr>
          <a:lstStyle/>
          <a:p>
            <a:pPr algn="l" marL="0" indent="0" lvl="0">
              <a:lnSpc>
                <a:spcPts val="7679"/>
              </a:lnSpc>
              <a:spcBef>
                <a:spcPct val="0"/>
              </a:spcBef>
            </a:pPr>
            <a:r>
              <a:rPr lang="en-US" sz="6399">
                <a:solidFill>
                  <a:srgbClr val="000000"/>
                </a:solidFill>
                <a:latin typeface="Marykate"/>
                <a:ea typeface="Marykate"/>
                <a:cs typeface="Marykate"/>
                <a:sym typeface="Marykate"/>
              </a:rPr>
              <a:t>4.Groupe</a:t>
            </a:r>
            <a:r>
              <a:rPr lang="en-US" sz="6399">
                <a:solidFill>
                  <a:srgbClr val="000000"/>
                </a:solidFill>
                <a:latin typeface="Marykate"/>
                <a:ea typeface="Marykate"/>
                <a:cs typeface="Marykate"/>
                <a:sym typeface="Marykate"/>
              </a:rPr>
              <a:t>d Summary (e.g., by State or Commodity)</a:t>
            </a:r>
          </a:p>
        </p:txBody>
      </p:sp>
      <p:sp>
        <p:nvSpPr>
          <p:cNvPr name="TextBox 4" id="4"/>
          <p:cNvSpPr txBox="true"/>
          <p:nvPr/>
        </p:nvSpPr>
        <p:spPr>
          <a:xfrm rot="0">
            <a:off x="1807589" y="3193170"/>
            <a:ext cx="6953886" cy="5208270"/>
          </a:xfrm>
          <a:prstGeom prst="rect">
            <a:avLst/>
          </a:prstGeom>
        </p:spPr>
        <p:txBody>
          <a:bodyPr anchor="t" rtlCol="false" tIns="0" lIns="0" bIns="0" rIns="0">
            <a:spAutoFit/>
          </a:bodyPr>
          <a:lstStyle/>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U</a:t>
            </a:r>
            <a:r>
              <a:rPr lang="en-US" sz="2799">
                <a:solidFill>
                  <a:srgbClr val="000000"/>
                </a:solidFill>
                <a:latin typeface="Open Sans 2"/>
                <a:ea typeface="Open Sans 2"/>
                <a:cs typeface="Open Sans 2"/>
                <a:sym typeface="Open Sans 2"/>
              </a:rPr>
              <a:t>sed for categorical columns (like State, Commodity).</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table() shows t</a:t>
            </a:r>
            <a:r>
              <a:rPr lang="en-US" sz="2799">
                <a:solidFill>
                  <a:srgbClr val="000000"/>
                </a:solidFill>
                <a:latin typeface="Open Sans 2"/>
                <a:ea typeface="Open Sans 2"/>
                <a:cs typeface="Open Sans 2"/>
                <a:sym typeface="Open Sans 2"/>
              </a:rPr>
              <a:t>he count of each category, while prop.table(table()) gives proportions.</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Purpose: To see distribution of observations across categories.</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Example: Which states/commodities dominate mandi transactions.</a:t>
            </a:r>
          </a:p>
          <a:p>
            <a:pPr algn="l" marL="0" indent="0" lvl="0">
              <a:lnSpc>
                <a:spcPts val="4199"/>
              </a:lnSpc>
              <a:spcBef>
                <a:spcPct val="0"/>
              </a:spcBef>
            </a:pPr>
          </a:p>
        </p:txBody>
      </p:sp>
      <p:sp>
        <p:nvSpPr>
          <p:cNvPr name="TextBox 5" id="5"/>
          <p:cNvSpPr txBox="true"/>
          <p:nvPr/>
        </p:nvSpPr>
        <p:spPr>
          <a:xfrm rot="0">
            <a:off x="9934171" y="3193170"/>
            <a:ext cx="6953886" cy="6256020"/>
          </a:xfrm>
          <a:prstGeom prst="rect">
            <a:avLst/>
          </a:prstGeom>
        </p:spPr>
        <p:txBody>
          <a:bodyPr anchor="t" rtlCol="false" tIns="0" lIns="0" bIns="0" rIns="0">
            <a:spAutoFit/>
          </a:bodyPr>
          <a:lstStyle/>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Us</a:t>
            </a:r>
            <a:r>
              <a:rPr lang="en-US" sz="2799">
                <a:solidFill>
                  <a:srgbClr val="000000"/>
                </a:solidFill>
                <a:latin typeface="Open Sans 2"/>
                <a:ea typeface="Open Sans 2"/>
                <a:cs typeface="Open Sans 2"/>
                <a:sym typeface="Open Sans 2"/>
              </a:rPr>
              <a:t>es group_by() + summarise() in dplyr to calculate statistics within groups.</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Typical grouped stats:</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M</a:t>
            </a:r>
            <a:r>
              <a:rPr lang="en-US" sz="2799">
                <a:solidFill>
                  <a:srgbClr val="000000"/>
                </a:solidFill>
                <a:latin typeface="Open Sans 2"/>
                <a:ea typeface="Open Sans 2"/>
                <a:cs typeface="Open Sans 2"/>
                <a:sym typeface="Open Sans 2"/>
              </a:rPr>
              <a:t>ean, min, max price per state.</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Average price per commodity.</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Purpose: To compare categories and discover regional or commodity-specific trends.</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Example: Average tomato prices in Kerala vs Karnataka.</a:t>
            </a:r>
          </a:p>
          <a:p>
            <a:pPr algn="l" marL="0" indent="0" lvl="0">
              <a:lnSpc>
                <a:spcPts val="4199"/>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19839" y="1019175"/>
            <a:ext cx="6953886" cy="1952625"/>
          </a:xfrm>
          <a:prstGeom prst="rect">
            <a:avLst/>
          </a:prstGeom>
        </p:spPr>
        <p:txBody>
          <a:bodyPr anchor="t" rtlCol="false" tIns="0" lIns="0" bIns="0" rIns="0">
            <a:spAutoFit/>
          </a:bodyPr>
          <a:lstStyle/>
          <a:p>
            <a:pPr algn="l" marL="0" indent="0" lvl="0">
              <a:lnSpc>
                <a:spcPts val="7679"/>
              </a:lnSpc>
              <a:spcBef>
                <a:spcPct val="0"/>
              </a:spcBef>
            </a:pPr>
            <a:r>
              <a:rPr lang="en-US" sz="6399">
                <a:solidFill>
                  <a:srgbClr val="000000"/>
                </a:solidFill>
                <a:latin typeface="Marykate"/>
                <a:ea typeface="Marykate"/>
                <a:cs typeface="Marykate"/>
                <a:sym typeface="Marykate"/>
              </a:rPr>
              <a:t>5.Sprea</a:t>
            </a:r>
            <a:r>
              <a:rPr lang="en-US" sz="6399">
                <a:solidFill>
                  <a:srgbClr val="000000"/>
                </a:solidFill>
                <a:latin typeface="Marykate"/>
                <a:ea typeface="Marykate"/>
                <a:cs typeface="Marykate"/>
                <a:sym typeface="Marykate"/>
              </a:rPr>
              <a:t>d analysis by Commodity or State</a:t>
            </a:r>
          </a:p>
        </p:txBody>
      </p:sp>
      <p:sp>
        <p:nvSpPr>
          <p:cNvPr name="TextBox 3" id="3"/>
          <p:cNvSpPr txBox="true"/>
          <p:nvPr/>
        </p:nvSpPr>
        <p:spPr>
          <a:xfrm rot="0">
            <a:off x="1975443" y="3526155"/>
            <a:ext cx="6953886" cy="5732145"/>
          </a:xfrm>
          <a:prstGeom prst="rect">
            <a:avLst/>
          </a:prstGeom>
        </p:spPr>
        <p:txBody>
          <a:bodyPr anchor="t" rtlCol="false" tIns="0" lIns="0" bIns="0" rIns="0">
            <a:spAutoFit/>
          </a:bodyPr>
          <a:lstStyle/>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Defined </a:t>
            </a:r>
            <a:r>
              <a:rPr lang="en-US" sz="2799">
                <a:solidFill>
                  <a:srgbClr val="000000"/>
                </a:solidFill>
                <a:latin typeface="Open Sans 2"/>
                <a:ea typeface="Open Sans 2"/>
                <a:cs typeface="Open Sans 2"/>
                <a:sym typeface="Open Sans 2"/>
              </a:rPr>
              <a:t>Price Spread = Max_Price – Min_Price.</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Added new column Price_Spread.</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Generated summary statistic</a:t>
            </a:r>
            <a:r>
              <a:rPr lang="en-US" sz="2799">
                <a:solidFill>
                  <a:srgbClr val="000000"/>
                </a:solidFill>
                <a:latin typeface="Open Sans 2"/>
                <a:ea typeface="Open Sans 2"/>
                <a:cs typeface="Open Sans 2"/>
                <a:sym typeface="Open Sans 2"/>
              </a:rPr>
              <a:t>s for price spread.</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Grouped spread by:</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Commodity → Identified which crops show widest fluctuations.</a:t>
            </a:r>
          </a:p>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State → Compared intra-state price variations.</a:t>
            </a:r>
          </a:p>
          <a:p>
            <a:pPr algn="l" marL="0" indent="0" lvl="0">
              <a:lnSpc>
                <a:spcPts val="419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210699" y="2120295"/>
            <a:ext cx="8022194" cy="1335405"/>
          </a:xfrm>
          <a:prstGeom prst="rect">
            <a:avLst/>
          </a:prstGeom>
        </p:spPr>
        <p:txBody>
          <a:bodyPr anchor="t" rtlCol="false" tIns="0" lIns="0" bIns="0" rIns="0">
            <a:spAutoFit/>
          </a:bodyPr>
          <a:lstStyle/>
          <a:p>
            <a:pPr algn="l" marL="0" indent="0" lvl="0">
              <a:lnSpc>
                <a:spcPts val="10080"/>
              </a:lnSpc>
            </a:pPr>
            <a:r>
              <a:rPr lang="en-US" sz="9600">
                <a:solidFill>
                  <a:srgbClr val="000000"/>
                </a:solidFill>
                <a:latin typeface="Marykate"/>
                <a:ea typeface="Marykate"/>
                <a:cs typeface="Marykate"/>
                <a:sym typeface="Marykate"/>
              </a:rPr>
              <a:t>Visualizations</a:t>
            </a:r>
          </a:p>
        </p:txBody>
      </p:sp>
      <p:sp>
        <p:nvSpPr>
          <p:cNvPr name="AutoShape 3" id="3"/>
          <p:cNvSpPr/>
          <p:nvPr/>
        </p:nvSpPr>
        <p:spPr>
          <a:xfrm>
            <a:off x="2210699" y="4069111"/>
            <a:ext cx="13844095" cy="0"/>
          </a:xfrm>
          <a:prstGeom prst="line">
            <a:avLst/>
          </a:prstGeom>
          <a:ln cap="flat" w="38100">
            <a:solidFill>
              <a:srgbClr val="817CFF"/>
            </a:solidFill>
            <a:prstDash val="solid"/>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7E7CD4"/>
        </a:solidFill>
      </p:bgPr>
    </p:bg>
    <p:spTree>
      <p:nvGrpSpPr>
        <p:cNvPr id="1" name=""/>
        <p:cNvGrpSpPr/>
        <p:nvPr/>
      </p:nvGrpSpPr>
      <p:grpSpPr>
        <a:xfrm>
          <a:off x="0" y="0"/>
          <a:ext cx="0" cy="0"/>
          <a:chOff x="0" y="0"/>
          <a:chExt cx="0" cy="0"/>
        </a:xfrm>
      </p:grpSpPr>
      <p:sp>
        <p:nvSpPr>
          <p:cNvPr name="Freeform 2" id="2"/>
          <p:cNvSpPr/>
          <p:nvPr/>
        </p:nvSpPr>
        <p:spPr>
          <a:xfrm flipH="false" flipV="false" rot="0">
            <a:off x="11206502" y="1279662"/>
            <a:ext cx="6356958" cy="6356958"/>
          </a:xfrm>
          <a:custGeom>
            <a:avLst/>
            <a:gdLst/>
            <a:ahLst/>
            <a:cxnLst/>
            <a:rect r="r" b="b" t="t" l="l"/>
            <a:pathLst>
              <a:path h="6356958" w="6356958">
                <a:moveTo>
                  <a:pt x="0" y="0"/>
                </a:moveTo>
                <a:lnTo>
                  <a:pt x="6356958" y="0"/>
                </a:lnTo>
                <a:lnTo>
                  <a:pt x="6356958" y="6356958"/>
                </a:lnTo>
                <a:lnTo>
                  <a:pt x="0" y="6356958"/>
                </a:lnTo>
                <a:lnTo>
                  <a:pt x="0" y="0"/>
                </a:lnTo>
                <a:close/>
              </a:path>
            </a:pathLst>
          </a:custGeom>
          <a:blipFill>
            <a:blip r:embed="rId2"/>
            <a:stretch>
              <a:fillRect l="0" t="0" r="0" b="0"/>
            </a:stretch>
          </a:blipFill>
        </p:spPr>
      </p:sp>
      <p:sp>
        <p:nvSpPr>
          <p:cNvPr name="TextBox 3" id="3"/>
          <p:cNvSpPr txBox="true"/>
          <p:nvPr/>
        </p:nvSpPr>
        <p:spPr>
          <a:xfrm rot="0">
            <a:off x="513374" y="3314689"/>
            <a:ext cx="9466194" cy="4836160"/>
          </a:xfrm>
          <a:prstGeom prst="rect">
            <a:avLst/>
          </a:prstGeom>
        </p:spPr>
        <p:txBody>
          <a:bodyPr anchor="t" rtlCol="false" tIns="0" lIns="0" bIns="0" rIns="0">
            <a:spAutoFit/>
          </a:bodyPr>
          <a:lstStyle/>
          <a:p>
            <a:pPr algn="l">
              <a:lnSpc>
                <a:spcPts val="3849"/>
              </a:lnSpc>
            </a:pPr>
          </a:p>
          <a:p>
            <a:pPr algn="l" marL="554141" indent="-277071" lvl="1">
              <a:lnSpc>
                <a:spcPts val="3849"/>
              </a:lnSpc>
              <a:buFont typeface="Arial"/>
              <a:buChar char="•"/>
            </a:pPr>
            <a:r>
              <a:rPr lang="en-US" sz="2566">
                <a:solidFill>
                  <a:srgbClr val="000000"/>
                </a:solidFill>
                <a:latin typeface="Open Sans 2"/>
                <a:ea typeface="Open Sans 2"/>
                <a:cs typeface="Open Sans 2"/>
                <a:sym typeface="Open Sans 2"/>
              </a:rPr>
              <a:t>  The </a:t>
            </a:r>
            <a:r>
              <a:rPr lang="en-US" sz="2566" u="none">
                <a:solidFill>
                  <a:srgbClr val="000000"/>
                </a:solidFill>
                <a:latin typeface="Open Sans 2"/>
                <a:ea typeface="Open Sans 2"/>
                <a:cs typeface="Open Sans 2"/>
                <a:sym typeface="Open Sans 2"/>
              </a:rPr>
              <a:t>bar chart for states will likely show a </a:t>
            </a:r>
            <a:r>
              <a:rPr lang="en-US" b="true" sz="2566" u="none">
                <a:solidFill>
                  <a:srgbClr val="000000"/>
                </a:solidFill>
                <a:latin typeface="Open Sans 2 Bold"/>
                <a:ea typeface="Open Sans 2 Bold"/>
                <a:cs typeface="Open Sans 2 Bold"/>
                <a:sym typeface="Open Sans 2 Bold"/>
              </a:rPr>
              <a:t>highly imbalanced</a:t>
            </a:r>
            <a:r>
              <a:rPr lang="en-US" sz="2566" u="none">
                <a:solidFill>
                  <a:srgbClr val="000000"/>
                </a:solidFill>
                <a:latin typeface="Open Sans 2"/>
                <a:ea typeface="Open Sans 2"/>
                <a:cs typeface="Open Sans 2"/>
                <a:sym typeface="Open Sans 2"/>
              </a:rPr>
              <a:t> distribution. </a:t>
            </a:r>
          </a:p>
          <a:p>
            <a:pPr algn="l" marL="554141" indent="-277071" lvl="1">
              <a:lnSpc>
                <a:spcPts val="3849"/>
              </a:lnSpc>
              <a:buFont typeface="Arial"/>
              <a:buChar char="•"/>
            </a:pPr>
            <a:r>
              <a:rPr lang="en-US" sz="2566" u="none">
                <a:solidFill>
                  <a:srgbClr val="000000"/>
                </a:solidFill>
                <a:latin typeface="Open Sans 2"/>
                <a:ea typeface="Open Sans 2"/>
                <a:cs typeface="Open Sans 2"/>
                <a:sym typeface="Open Sans 2"/>
              </a:rPr>
              <a:t>A few states, such as Uttar Pradesh or Rajasthan, will have a significantly higher number of mandi records compared to others.</a:t>
            </a:r>
          </a:p>
          <a:p>
            <a:pPr algn="l" marL="554141" indent="-277071" lvl="1">
              <a:lnSpc>
                <a:spcPts val="3849"/>
              </a:lnSpc>
              <a:buFont typeface="Arial"/>
              <a:buChar char="•"/>
            </a:pPr>
            <a:r>
              <a:rPr lang="en-US" sz="2566" u="none">
                <a:solidFill>
                  <a:srgbClr val="000000"/>
                </a:solidFill>
                <a:latin typeface="Open Sans 2"/>
                <a:ea typeface="Open Sans 2"/>
                <a:cs typeface="Open Sans 2"/>
                <a:sym typeface="Open Sans 2"/>
              </a:rPr>
              <a:t>data collection is </a:t>
            </a:r>
            <a:r>
              <a:rPr lang="en-US" b="true" sz="2566" u="none">
                <a:solidFill>
                  <a:srgbClr val="000000"/>
                </a:solidFill>
                <a:latin typeface="Open Sans 2 Bold"/>
                <a:ea typeface="Open Sans 2 Bold"/>
                <a:cs typeface="Open Sans 2 Bold"/>
                <a:sym typeface="Open Sans 2 Bold"/>
              </a:rPr>
              <a:t>not uniform</a:t>
            </a:r>
            <a:r>
              <a:rPr lang="en-US" sz="2566" u="none">
                <a:solidFill>
                  <a:srgbClr val="000000"/>
                </a:solidFill>
                <a:latin typeface="Open Sans 2"/>
                <a:ea typeface="Open Sans 2"/>
                <a:cs typeface="Open Sans 2"/>
                <a:sym typeface="Open Sans 2"/>
              </a:rPr>
              <a:t> across all states</a:t>
            </a:r>
          </a:p>
          <a:p>
            <a:pPr algn="l" marL="554141" indent="-277071" lvl="1">
              <a:lnSpc>
                <a:spcPts val="3849"/>
              </a:lnSpc>
              <a:buFont typeface="Arial"/>
              <a:buChar char="•"/>
            </a:pPr>
            <a:r>
              <a:rPr lang="en-US" sz="2566" u="none">
                <a:solidFill>
                  <a:srgbClr val="000000"/>
                </a:solidFill>
                <a:latin typeface="Open Sans 2"/>
                <a:ea typeface="Open Sans 2"/>
                <a:cs typeface="Open Sans 2"/>
                <a:sym typeface="Open Sans 2"/>
              </a:rPr>
              <a:t>these states are major agricultural hubs with extensive market activity.</a:t>
            </a:r>
          </a:p>
          <a:p>
            <a:pPr algn="l">
              <a:lnSpc>
                <a:spcPts val="3849"/>
              </a:lnSpc>
            </a:pPr>
          </a:p>
        </p:txBody>
      </p:sp>
      <p:sp>
        <p:nvSpPr>
          <p:cNvPr name="TextBox 4" id="4"/>
          <p:cNvSpPr txBox="true"/>
          <p:nvPr/>
        </p:nvSpPr>
        <p:spPr>
          <a:xfrm rot="0">
            <a:off x="812519" y="1279662"/>
            <a:ext cx="7266330" cy="1219200"/>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000000"/>
                </a:solidFill>
                <a:latin typeface="Open Sans 1 Bold"/>
                <a:ea typeface="Open Sans 1 Bold"/>
                <a:cs typeface="Open Sans 1 Bold"/>
                <a:sym typeface="Open Sans 1 Bold"/>
              </a:rPr>
              <a:t>Bar</a:t>
            </a:r>
            <a:r>
              <a:rPr lang="en-US" b="true" sz="8000">
                <a:solidFill>
                  <a:srgbClr val="000000"/>
                </a:solidFill>
                <a:latin typeface="Open Sans 1 Bold"/>
                <a:ea typeface="Open Sans 1 Bold"/>
                <a:cs typeface="Open Sans 1 Bold"/>
                <a:sym typeface="Open Sans 1 Bold"/>
              </a:rPr>
              <a:t>Chart </a:t>
            </a:r>
          </a:p>
        </p:txBody>
      </p:sp>
      <p:sp>
        <p:nvSpPr>
          <p:cNvPr name="TextBox 5" id="5"/>
          <p:cNvSpPr txBox="true"/>
          <p:nvPr/>
        </p:nvSpPr>
        <p:spPr>
          <a:xfrm rot="0">
            <a:off x="3236498" y="2632622"/>
            <a:ext cx="7076956" cy="629920"/>
          </a:xfrm>
          <a:prstGeom prst="rect">
            <a:avLst/>
          </a:prstGeom>
        </p:spPr>
        <p:txBody>
          <a:bodyPr anchor="t" rtlCol="false" tIns="0" lIns="0" bIns="0" rIns="0">
            <a:spAutoFit/>
          </a:bodyPr>
          <a:lstStyle/>
          <a:p>
            <a:pPr algn="ctr">
              <a:lnSpc>
                <a:spcPts val="5179"/>
              </a:lnSpc>
              <a:spcBef>
                <a:spcPct val="0"/>
              </a:spcBef>
            </a:pPr>
            <a:r>
              <a:rPr lang="en-US" b="true" sz="3699">
                <a:solidFill>
                  <a:srgbClr val="000000"/>
                </a:solidFill>
                <a:latin typeface="Open Sans 1 Bold"/>
                <a:ea typeface="Open Sans 1 Bold"/>
                <a:cs typeface="Open Sans 1 Bold"/>
                <a:sym typeface="Open Sans 1 Bold"/>
              </a:rPr>
              <a:t>Top 10 States by Record Count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7E7CD4"/>
        </a:solidFill>
      </p:bgPr>
    </p:bg>
    <p:spTree>
      <p:nvGrpSpPr>
        <p:cNvPr id="1" name=""/>
        <p:cNvGrpSpPr/>
        <p:nvPr/>
      </p:nvGrpSpPr>
      <p:grpSpPr>
        <a:xfrm>
          <a:off x="0" y="0"/>
          <a:ext cx="0" cy="0"/>
          <a:chOff x="0" y="0"/>
          <a:chExt cx="0" cy="0"/>
        </a:xfrm>
      </p:grpSpPr>
      <p:sp>
        <p:nvSpPr>
          <p:cNvPr name="Freeform 2" id="2"/>
          <p:cNvSpPr/>
          <p:nvPr/>
        </p:nvSpPr>
        <p:spPr>
          <a:xfrm flipH="false" flipV="false" rot="0">
            <a:off x="10438717" y="1607223"/>
            <a:ext cx="7072554" cy="7072554"/>
          </a:xfrm>
          <a:custGeom>
            <a:avLst/>
            <a:gdLst/>
            <a:ahLst/>
            <a:cxnLst/>
            <a:rect r="r" b="b" t="t" l="l"/>
            <a:pathLst>
              <a:path h="7072554" w="7072554">
                <a:moveTo>
                  <a:pt x="0" y="0"/>
                </a:moveTo>
                <a:lnTo>
                  <a:pt x="7072553" y="0"/>
                </a:lnTo>
                <a:lnTo>
                  <a:pt x="7072553" y="7072554"/>
                </a:lnTo>
                <a:lnTo>
                  <a:pt x="0" y="7072554"/>
                </a:lnTo>
                <a:lnTo>
                  <a:pt x="0" y="0"/>
                </a:lnTo>
                <a:close/>
              </a:path>
            </a:pathLst>
          </a:custGeom>
          <a:blipFill>
            <a:blip r:embed="rId2"/>
            <a:stretch>
              <a:fillRect l="0" t="0" r="0" b="0"/>
            </a:stretch>
          </a:blipFill>
        </p:spPr>
      </p:sp>
      <p:sp>
        <p:nvSpPr>
          <p:cNvPr name="TextBox 3" id="3"/>
          <p:cNvSpPr txBox="true"/>
          <p:nvPr/>
        </p:nvSpPr>
        <p:spPr>
          <a:xfrm rot="0">
            <a:off x="1598666" y="4346455"/>
            <a:ext cx="7266330" cy="4160520"/>
          </a:xfrm>
          <a:prstGeom prst="rect">
            <a:avLst/>
          </a:prstGeom>
        </p:spPr>
        <p:txBody>
          <a:bodyPr anchor="t" rtlCol="false" tIns="0" lIns="0" bIns="0" rIns="0">
            <a:spAutoFit/>
          </a:bodyPr>
          <a:lstStyle/>
          <a:p>
            <a:pPr algn="l" marL="604519" indent="-302260" lvl="1">
              <a:lnSpc>
                <a:spcPts val="4199"/>
              </a:lnSpc>
              <a:buFont typeface="Arial"/>
              <a:buChar char="•"/>
            </a:pPr>
            <a:r>
              <a:rPr lang="en-US" sz="2799">
                <a:solidFill>
                  <a:srgbClr val="000000"/>
                </a:solidFill>
                <a:latin typeface="Open Sans 2"/>
                <a:ea typeface="Open Sans 2"/>
                <a:cs typeface="Open Sans 2"/>
                <a:sym typeface="Open Sans 2"/>
              </a:rPr>
              <a:t>high</a:t>
            </a:r>
            <a:r>
              <a:rPr lang="en-US" sz="2799" u="none">
                <a:solidFill>
                  <a:srgbClr val="000000"/>
                </a:solidFill>
                <a:latin typeface="Open Sans 2"/>
                <a:ea typeface="Open Sans 2"/>
                <a:cs typeface="Open Sans 2"/>
                <a:sym typeface="Open Sans 2"/>
              </a:rPr>
              <a:t>light which crops are </a:t>
            </a:r>
            <a:r>
              <a:rPr lang="en-US" b="true" sz="2799" u="none">
                <a:solidFill>
                  <a:srgbClr val="000000"/>
                </a:solidFill>
                <a:latin typeface="Open Sans 2 Bold"/>
                <a:ea typeface="Open Sans 2 Bold"/>
                <a:cs typeface="Open Sans 2 Bold"/>
                <a:sym typeface="Open Sans 2 Bold"/>
              </a:rPr>
              <a:t>most frequently traded</a:t>
            </a:r>
            <a:r>
              <a:rPr lang="en-US" sz="2799" u="none">
                <a:solidFill>
                  <a:srgbClr val="000000"/>
                </a:solidFill>
                <a:latin typeface="Open Sans 2"/>
                <a:ea typeface="Open Sans 2"/>
                <a:cs typeface="Open Sans 2"/>
                <a:sym typeface="Open Sans 2"/>
              </a:rPr>
              <a:t> and reported in the dataset</a:t>
            </a:r>
          </a:p>
          <a:p>
            <a:pPr algn="l" marL="604519" indent="-302260" lvl="1">
              <a:lnSpc>
                <a:spcPts val="4199"/>
              </a:lnSpc>
              <a:buFont typeface="Arial"/>
              <a:buChar char="•"/>
            </a:pPr>
            <a:r>
              <a:rPr lang="en-US" sz="2799" u="none">
                <a:solidFill>
                  <a:srgbClr val="000000"/>
                </a:solidFill>
                <a:latin typeface="Open Sans 2"/>
                <a:ea typeface="Open Sans 2"/>
                <a:cs typeface="Open Sans 2"/>
                <a:sym typeface="Open Sans 2"/>
              </a:rPr>
              <a:t>Common staples like Tomato, Potato, and Onion will probably dominate the chart, indicating their</a:t>
            </a:r>
            <a:r>
              <a:rPr lang="en-US" b="true" sz="2799" u="none">
                <a:solidFill>
                  <a:srgbClr val="000000"/>
                </a:solidFill>
                <a:latin typeface="Open Sans 2 Bold"/>
                <a:ea typeface="Open Sans 2 Bold"/>
                <a:cs typeface="Open Sans 2 Bold"/>
                <a:sym typeface="Open Sans 2 Bold"/>
              </a:rPr>
              <a:t> importance in the agricultural economy</a:t>
            </a:r>
            <a:r>
              <a:rPr lang="en-US" sz="2799" u="none">
                <a:solidFill>
                  <a:srgbClr val="000000"/>
                </a:solidFill>
                <a:latin typeface="Open Sans 2"/>
                <a:ea typeface="Open Sans 2"/>
                <a:cs typeface="Open Sans 2"/>
                <a:sym typeface="Open Sans 2"/>
              </a:rPr>
              <a:t>.</a:t>
            </a:r>
          </a:p>
          <a:p>
            <a:pPr algn="l" marL="604519" indent="-302260" lvl="1">
              <a:lnSpc>
                <a:spcPts val="4199"/>
              </a:lnSpc>
              <a:buFont typeface="Arial"/>
              <a:buChar char="•"/>
            </a:pPr>
          </a:p>
        </p:txBody>
      </p:sp>
      <p:sp>
        <p:nvSpPr>
          <p:cNvPr name="TextBox 4" id="4"/>
          <p:cNvSpPr txBox="true"/>
          <p:nvPr/>
        </p:nvSpPr>
        <p:spPr>
          <a:xfrm rot="0">
            <a:off x="1877670" y="1965217"/>
            <a:ext cx="7266330" cy="1219200"/>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000000"/>
                </a:solidFill>
                <a:latin typeface="Open Sans 2 Bold"/>
                <a:ea typeface="Open Sans 2 Bold"/>
                <a:cs typeface="Open Sans 2 Bold"/>
                <a:sym typeface="Open Sans 2 Bold"/>
              </a:rPr>
              <a:t>Bar </a:t>
            </a:r>
            <a:r>
              <a:rPr lang="en-US" b="true" sz="8000">
                <a:solidFill>
                  <a:srgbClr val="000000"/>
                </a:solidFill>
                <a:latin typeface="Open Sans 2 Bold"/>
                <a:ea typeface="Open Sans 2 Bold"/>
                <a:cs typeface="Open Sans 2 Bold"/>
                <a:sym typeface="Open Sans 2 Bold"/>
              </a:rPr>
              <a:t>Chart </a:t>
            </a:r>
          </a:p>
        </p:txBody>
      </p:sp>
      <p:sp>
        <p:nvSpPr>
          <p:cNvPr name="TextBox 5" id="5"/>
          <p:cNvSpPr txBox="true"/>
          <p:nvPr/>
        </p:nvSpPr>
        <p:spPr>
          <a:xfrm rot="0">
            <a:off x="3622669" y="3277556"/>
            <a:ext cx="6482001" cy="542925"/>
          </a:xfrm>
          <a:prstGeom prst="rect">
            <a:avLst/>
          </a:prstGeom>
        </p:spPr>
        <p:txBody>
          <a:bodyPr anchor="t" rtlCol="false" tIns="0" lIns="0" bIns="0" rIns="0">
            <a:spAutoFit/>
          </a:bodyPr>
          <a:lstStyle/>
          <a:p>
            <a:pPr algn="ctr">
              <a:lnSpc>
                <a:spcPts val="3600"/>
              </a:lnSpc>
              <a:spcBef>
                <a:spcPct val="0"/>
              </a:spcBef>
            </a:pPr>
            <a:r>
              <a:rPr lang="en-US" b="true" sz="3000">
                <a:solidFill>
                  <a:srgbClr val="000000"/>
                </a:solidFill>
                <a:latin typeface="Cooper Hewitt Bold"/>
                <a:ea typeface="Cooper Hewitt Bold"/>
                <a:cs typeface="Cooper Hewitt Bold"/>
                <a:sym typeface="Cooper Hewitt Bold"/>
              </a:rPr>
              <a:t>Top 10 Commodities by Record Count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7E7CD4"/>
        </a:solidFill>
      </p:bgPr>
    </p:bg>
    <p:spTree>
      <p:nvGrpSpPr>
        <p:cNvPr id="1" name=""/>
        <p:cNvGrpSpPr/>
        <p:nvPr/>
      </p:nvGrpSpPr>
      <p:grpSpPr>
        <a:xfrm>
          <a:off x="0" y="0"/>
          <a:ext cx="0" cy="0"/>
          <a:chOff x="0" y="0"/>
          <a:chExt cx="0" cy="0"/>
        </a:xfrm>
      </p:grpSpPr>
      <p:sp>
        <p:nvSpPr>
          <p:cNvPr name="Freeform 2" id="2"/>
          <p:cNvSpPr/>
          <p:nvPr/>
        </p:nvSpPr>
        <p:spPr>
          <a:xfrm flipH="false" flipV="false" rot="0">
            <a:off x="10823507" y="1028700"/>
            <a:ext cx="7183421" cy="7183421"/>
          </a:xfrm>
          <a:custGeom>
            <a:avLst/>
            <a:gdLst/>
            <a:ahLst/>
            <a:cxnLst/>
            <a:rect r="r" b="b" t="t" l="l"/>
            <a:pathLst>
              <a:path h="7183421" w="7183421">
                <a:moveTo>
                  <a:pt x="0" y="0"/>
                </a:moveTo>
                <a:lnTo>
                  <a:pt x="7183421" y="0"/>
                </a:lnTo>
                <a:lnTo>
                  <a:pt x="7183421" y="7183421"/>
                </a:lnTo>
                <a:lnTo>
                  <a:pt x="0" y="7183421"/>
                </a:lnTo>
                <a:lnTo>
                  <a:pt x="0" y="0"/>
                </a:lnTo>
                <a:close/>
              </a:path>
            </a:pathLst>
          </a:custGeom>
          <a:blipFill>
            <a:blip r:embed="rId2"/>
            <a:stretch>
              <a:fillRect l="0" t="0" r="0" b="0"/>
            </a:stretch>
          </a:blipFill>
        </p:spPr>
      </p:sp>
      <p:sp>
        <p:nvSpPr>
          <p:cNvPr name="TextBox 3" id="3"/>
          <p:cNvSpPr txBox="true"/>
          <p:nvPr/>
        </p:nvSpPr>
        <p:spPr>
          <a:xfrm rot="0">
            <a:off x="550470" y="3411442"/>
            <a:ext cx="9799365" cy="4986032"/>
          </a:xfrm>
          <a:prstGeom prst="rect">
            <a:avLst/>
          </a:prstGeom>
        </p:spPr>
        <p:txBody>
          <a:bodyPr anchor="t" rtlCol="false" tIns="0" lIns="0" bIns="0" rIns="0">
            <a:spAutoFit/>
          </a:bodyPr>
          <a:lstStyle/>
          <a:p>
            <a:pPr algn="l" marL="526809" indent="-263405" lvl="1">
              <a:lnSpc>
                <a:spcPts val="3660"/>
              </a:lnSpc>
              <a:buFont typeface="Arial"/>
              <a:buChar char="•"/>
            </a:pPr>
            <a:r>
              <a:rPr lang="en-US" sz="2440">
                <a:solidFill>
                  <a:srgbClr val="000000"/>
                </a:solidFill>
                <a:latin typeface="Open Sans 2"/>
                <a:ea typeface="Open Sans 2"/>
                <a:cs typeface="Open Sans 2"/>
                <a:sym typeface="Open Sans 2"/>
              </a:rPr>
              <a:t>The histogr</a:t>
            </a:r>
            <a:r>
              <a:rPr lang="en-US" sz="2440" u="none">
                <a:solidFill>
                  <a:srgbClr val="000000"/>
                </a:solidFill>
                <a:latin typeface="Open Sans 2"/>
                <a:ea typeface="Open Sans 2"/>
                <a:cs typeface="Open Sans 2"/>
                <a:sym typeface="Open Sans 2"/>
              </a:rPr>
              <a:t>am of Modal_Price will reveal the central tendency and spread of prices. </a:t>
            </a:r>
          </a:p>
          <a:p>
            <a:pPr algn="l" marL="526809" indent="-263405" lvl="1">
              <a:lnSpc>
                <a:spcPts val="3660"/>
              </a:lnSpc>
              <a:buFont typeface="Arial"/>
              <a:buChar char="•"/>
            </a:pPr>
            <a:r>
              <a:rPr lang="en-US" sz="2440" u="none">
                <a:solidFill>
                  <a:srgbClr val="000000"/>
                </a:solidFill>
                <a:latin typeface="Open Sans 2"/>
                <a:ea typeface="Open Sans 2"/>
                <a:cs typeface="Open Sans 2"/>
                <a:sym typeface="Open Sans 2"/>
              </a:rPr>
              <a:t>observed a right-skewed distribution, meaning most commodities have a lower modal price, while a smaller number of commodities have very high prices.</a:t>
            </a:r>
          </a:p>
          <a:p>
            <a:pPr algn="l" marL="526809" indent="-263405" lvl="1">
              <a:lnSpc>
                <a:spcPts val="3660"/>
              </a:lnSpc>
              <a:buFont typeface="Arial"/>
              <a:buChar char="•"/>
            </a:pPr>
            <a:r>
              <a:rPr lang="en-US" sz="2440" u="none">
                <a:solidFill>
                  <a:srgbClr val="000000"/>
                </a:solidFill>
                <a:latin typeface="Open Sans 2"/>
                <a:ea typeface="Open Sans 2"/>
                <a:cs typeface="Open Sans 2"/>
                <a:sym typeface="Open Sans 2"/>
              </a:rPr>
              <a:t> This skewness suggests that the prices are not normally distributed and that there are high-value commodities in the dataset. </a:t>
            </a:r>
          </a:p>
          <a:p>
            <a:pPr algn="l" marL="526809" indent="-263405" lvl="1">
              <a:lnSpc>
                <a:spcPts val="3660"/>
              </a:lnSpc>
              <a:buFont typeface="Arial"/>
              <a:buChar char="•"/>
            </a:pPr>
            <a:r>
              <a:rPr lang="en-US" sz="2440" u="none">
                <a:solidFill>
                  <a:srgbClr val="000000"/>
                </a:solidFill>
                <a:latin typeface="Open Sans 2"/>
                <a:ea typeface="Open Sans 2"/>
                <a:cs typeface="Open Sans 2"/>
                <a:sym typeface="Open Sans 2"/>
              </a:rPr>
              <a:t>The presence of multiple peaks could also indicate distinct pricing clusters for different types of goods (e.g., staple grains vs. specialty vegetables).</a:t>
            </a:r>
          </a:p>
        </p:txBody>
      </p:sp>
      <p:sp>
        <p:nvSpPr>
          <p:cNvPr name="TextBox 4" id="4"/>
          <p:cNvSpPr txBox="true"/>
          <p:nvPr/>
        </p:nvSpPr>
        <p:spPr>
          <a:xfrm rot="0">
            <a:off x="1028700" y="1028700"/>
            <a:ext cx="7266330" cy="1219200"/>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000000"/>
                </a:solidFill>
                <a:latin typeface="Open Sans 2 Bold"/>
                <a:ea typeface="Open Sans 2 Bold"/>
                <a:cs typeface="Open Sans 2 Bold"/>
                <a:sym typeface="Open Sans 2 Bold"/>
              </a:rPr>
              <a:t>Histogram</a:t>
            </a:r>
          </a:p>
        </p:txBody>
      </p:sp>
      <p:sp>
        <p:nvSpPr>
          <p:cNvPr name="TextBox 5" id="5"/>
          <p:cNvSpPr txBox="true"/>
          <p:nvPr/>
        </p:nvSpPr>
        <p:spPr>
          <a:xfrm rot="0">
            <a:off x="4039251" y="2462566"/>
            <a:ext cx="5628679" cy="609600"/>
          </a:xfrm>
          <a:prstGeom prst="rect">
            <a:avLst/>
          </a:prstGeom>
        </p:spPr>
        <p:txBody>
          <a:bodyPr anchor="t" rtlCol="false" tIns="0" lIns="0" bIns="0" rIns="0">
            <a:spAutoFit/>
          </a:bodyPr>
          <a:lstStyle/>
          <a:p>
            <a:pPr algn="ctr">
              <a:lnSpc>
                <a:spcPts val="4079"/>
              </a:lnSpc>
              <a:spcBef>
                <a:spcPct val="0"/>
              </a:spcBef>
            </a:pPr>
            <a:r>
              <a:rPr lang="en-US" b="true" sz="3399">
                <a:solidFill>
                  <a:srgbClr val="000000"/>
                </a:solidFill>
                <a:latin typeface="Cooper Hewitt Bold"/>
                <a:ea typeface="Cooper Hewitt Bold"/>
                <a:cs typeface="Cooper Hewitt Bold"/>
                <a:sym typeface="Cooper Hewitt Bold"/>
              </a:rPr>
              <a:t>Distribution of Modal Price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7E7CD4"/>
        </a:solidFill>
      </p:bgPr>
    </p:bg>
    <p:spTree>
      <p:nvGrpSpPr>
        <p:cNvPr id="1" name=""/>
        <p:cNvGrpSpPr/>
        <p:nvPr/>
      </p:nvGrpSpPr>
      <p:grpSpPr>
        <a:xfrm>
          <a:off x="0" y="0"/>
          <a:ext cx="0" cy="0"/>
          <a:chOff x="0" y="0"/>
          <a:chExt cx="0" cy="0"/>
        </a:xfrm>
      </p:grpSpPr>
      <p:sp>
        <p:nvSpPr>
          <p:cNvPr name="Freeform 2" id="2"/>
          <p:cNvSpPr/>
          <p:nvPr/>
        </p:nvSpPr>
        <p:spPr>
          <a:xfrm flipH="false" flipV="false" rot="0">
            <a:off x="10541300" y="1351222"/>
            <a:ext cx="7054965" cy="7054965"/>
          </a:xfrm>
          <a:custGeom>
            <a:avLst/>
            <a:gdLst/>
            <a:ahLst/>
            <a:cxnLst/>
            <a:rect r="r" b="b" t="t" l="l"/>
            <a:pathLst>
              <a:path h="7054965" w="7054965">
                <a:moveTo>
                  <a:pt x="0" y="0"/>
                </a:moveTo>
                <a:lnTo>
                  <a:pt x="7054965" y="0"/>
                </a:lnTo>
                <a:lnTo>
                  <a:pt x="7054965" y="7054965"/>
                </a:lnTo>
                <a:lnTo>
                  <a:pt x="0" y="7054965"/>
                </a:lnTo>
                <a:lnTo>
                  <a:pt x="0" y="0"/>
                </a:lnTo>
                <a:close/>
              </a:path>
            </a:pathLst>
          </a:custGeom>
          <a:blipFill>
            <a:blip r:embed="rId2"/>
            <a:stretch>
              <a:fillRect l="0" t="0" r="0" b="0"/>
            </a:stretch>
          </a:blipFill>
        </p:spPr>
      </p:sp>
      <p:sp>
        <p:nvSpPr>
          <p:cNvPr name="TextBox 3" id="3"/>
          <p:cNvSpPr txBox="true"/>
          <p:nvPr/>
        </p:nvSpPr>
        <p:spPr>
          <a:xfrm rot="0">
            <a:off x="476835" y="3598548"/>
            <a:ext cx="8854760" cy="4928584"/>
          </a:xfrm>
          <a:prstGeom prst="rect">
            <a:avLst/>
          </a:prstGeom>
        </p:spPr>
        <p:txBody>
          <a:bodyPr anchor="t" rtlCol="false" tIns="0" lIns="0" bIns="0" rIns="0">
            <a:spAutoFit/>
          </a:bodyPr>
          <a:lstStyle/>
          <a:p>
            <a:pPr algn="l" marL="570156" indent="-285078" lvl="1">
              <a:lnSpc>
                <a:spcPts val="3961"/>
              </a:lnSpc>
              <a:buFont typeface="Arial"/>
              <a:buChar char="•"/>
            </a:pPr>
            <a:r>
              <a:rPr lang="en-US" sz="2640">
                <a:solidFill>
                  <a:srgbClr val="000000"/>
                </a:solidFill>
                <a:latin typeface="Open Sans 2"/>
                <a:ea typeface="Open Sans 2"/>
                <a:cs typeface="Open Sans 2"/>
                <a:sym typeface="Open Sans 2"/>
              </a:rPr>
              <a:t>rep</a:t>
            </a:r>
            <a:r>
              <a:rPr lang="en-US" sz="2640" u="none">
                <a:solidFill>
                  <a:srgbClr val="000000"/>
                </a:solidFill>
                <a:latin typeface="Open Sans 2"/>
                <a:ea typeface="Open Sans 2"/>
                <a:cs typeface="Open Sans 2"/>
                <a:sym typeface="Open Sans 2"/>
              </a:rPr>
              <a:t>resent the insights from grouped summaries. </a:t>
            </a:r>
          </a:p>
          <a:p>
            <a:pPr algn="l" marL="570156" indent="-285078" lvl="1">
              <a:lnSpc>
                <a:spcPts val="3961"/>
              </a:lnSpc>
              <a:buFont typeface="Arial"/>
              <a:buChar char="•"/>
            </a:pPr>
            <a:r>
              <a:rPr lang="en-US" sz="2640" u="none">
                <a:solidFill>
                  <a:srgbClr val="000000"/>
                </a:solidFill>
                <a:latin typeface="Open Sans 2"/>
                <a:ea typeface="Open Sans 2"/>
                <a:cs typeface="Open Sans 2"/>
                <a:sym typeface="Open Sans 2"/>
              </a:rPr>
              <a:t>compares the </a:t>
            </a:r>
            <a:r>
              <a:rPr lang="en-US" b="true" sz="2640" u="none">
                <a:solidFill>
                  <a:srgbClr val="000000"/>
                </a:solidFill>
                <a:latin typeface="Open Sans 2 Bold"/>
                <a:ea typeface="Open Sans 2 Bold"/>
                <a:cs typeface="Open Sans 2 Bold"/>
                <a:sym typeface="Open Sans 2 Bold"/>
              </a:rPr>
              <a:t>median, interquartile range (IQR), and outliers </a:t>
            </a:r>
            <a:r>
              <a:rPr lang="en-US" sz="2640" u="none">
                <a:solidFill>
                  <a:srgbClr val="000000"/>
                </a:solidFill>
                <a:latin typeface="Open Sans 2"/>
                <a:ea typeface="Open Sans 2"/>
                <a:cs typeface="Open Sans 2"/>
                <a:sym typeface="Open Sans 2"/>
              </a:rPr>
              <a:t>for the top commodities. </a:t>
            </a:r>
          </a:p>
          <a:p>
            <a:pPr algn="l" marL="570156" indent="-285078" lvl="1">
              <a:lnSpc>
                <a:spcPts val="3961"/>
              </a:lnSpc>
              <a:buFont typeface="Arial"/>
              <a:buChar char="•"/>
            </a:pPr>
            <a:r>
              <a:rPr lang="en-US" sz="2640" u="none">
                <a:solidFill>
                  <a:srgbClr val="000000"/>
                </a:solidFill>
                <a:latin typeface="Open Sans 2"/>
                <a:ea typeface="Open Sans 2"/>
                <a:cs typeface="Open Sans 2"/>
                <a:sym typeface="Open Sans 2"/>
              </a:rPr>
              <a:t>For example, a commodity like Onion might have a tight box with few outliers, indicating stable and predictable prices, while a specialty item or a </a:t>
            </a:r>
            <a:r>
              <a:rPr lang="en-US" b="true" sz="2640" u="none">
                <a:solidFill>
                  <a:srgbClr val="000000"/>
                </a:solidFill>
                <a:latin typeface="Open Sans 2 Bold"/>
                <a:ea typeface="Open Sans 2 Bold"/>
                <a:cs typeface="Open Sans 2 Bold"/>
                <a:sym typeface="Open Sans 2 Bold"/>
              </a:rPr>
              <a:t>highly perishable vegetable might have a wider box </a:t>
            </a:r>
            <a:r>
              <a:rPr lang="en-US" sz="2640" u="none">
                <a:solidFill>
                  <a:srgbClr val="000000"/>
                </a:solidFill>
                <a:latin typeface="Open Sans 2"/>
                <a:ea typeface="Open Sans 2"/>
                <a:cs typeface="Open Sans 2"/>
                <a:sym typeface="Open Sans 2"/>
              </a:rPr>
              <a:t>and many outliers, suggesting high price volatility and greater risk for farmers and traders.</a:t>
            </a:r>
          </a:p>
          <a:p>
            <a:pPr algn="l">
              <a:lnSpc>
                <a:spcPts val="3961"/>
              </a:lnSpc>
            </a:pPr>
          </a:p>
        </p:txBody>
      </p:sp>
      <p:sp>
        <p:nvSpPr>
          <p:cNvPr name="TextBox 4" id="4"/>
          <p:cNvSpPr txBox="true"/>
          <p:nvPr/>
        </p:nvSpPr>
        <p:spPr>
          <a:xfrm rot="0">
            <a:off x="1497878" y="1351222"/>
            <a:ext cx="7266330" cy="1219200"/>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000000"/>
                </a:solidFill>
                <a:latin typeface="Open Sans 2 Bold"/>
                <a:ea typeface="Open Sans 2 Bold"/>
                <a:cs typeface="Open Sans 2 Bold"/>
                <a:sym typeface="Open Sans 2 Bold"/>
              </a:rPr>
              <a:t>Boxplots</a:t>
            </a:r>
          </a:p>
        </p:txBody>
      </p:sp>
      <p:sp>
        <p:nvSpPr>
          <p:cNvPr name="TextBox 5" id="5"/>
          <p:cNvSpPr txBox="true"/>
          <p:nvPr/>
        </p:nvSpPr>
        <p:spPr>
          <a:xfrm rot="0">
            <a:off x="4194167" y="2645622"/>
            <a:ext cx="5137428" cy="542925"/>
          </a:xfrm>
          <a:prstGeom prst="rect">
            <a:avLst/>
          </a:prstGeom>
        </p:spPr>
        <p:txBody>
          <a:bodyPr anchor="t" rtlCol="false" tIns="0" lIns="0" bIns="0" rIns="0">
            <a:spAutoFit/>
          </a:bodyPr>
          <a:lstStyle/>
          <a:p>
            <a:pPr algn="ctr">
              <a:lnSpc>
                <a:spcPts val="3600"/>
              </a:lnSpc>
              <a:spcBef>
                <a:spcPct val="0"/>
              </a:spcBef>
            </a:pPr>
            <a:r>
              <a:rPr lang="en-US" b="true" sz="3000">
                <a:solidFill>
                  <a:srgbClr val="000000"/>
                </a:solidFill>
                <a:latin typeface="Cooper Hewitt Bold"/>
                <a:ea typeface="Cooper Hewitt Bold"/>
                <a:cs typeface="Cooper Hewitt Bold"/>
                <a:sym typeface="Cooper Hewitt Bold"/>
              </a:rPr>
              <a:t>Price Variation by Commodity</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7E7CD4"/>
        </a:solidFill>
      </p:bgPr>
    </p:bg>
    <p:spTree>
      <p:nvGrpSpPr>
        <p:cNvPr id="1" name=""/>
        <p:cNvGrpSpPr/>
        <p:nvPr/>
      </p:nvGrpSpPr>
      <p:grpSpPr>
        <a:xfrm>
          <a:off x="0" y="0"/>
          <a:ext cx="0" cy="0"/>
          <a:chOff x="0" y="0"/>
          <a:chExt cx="0" cy="0"/>
        </a:xfrm>
      </p:grpSpPr>
      <p:sp>
        <p:nvSpPr>
          <p:cNvPr name="Freeform 2" id="2"/>
          <p:cNvSpPr/>
          <p:nvPr/>
        </p:nvSpPr>
        <p:spPr>
          <a:xfrm flipH="false" flipV="false" rot="0">
            <a:off x="10620135" y="1028700"/>
            <a:ext cx="7233815" cy="7233815"/>
          </a:xfrm>
          <a:custGeom>
            <a:avLst/>
            <a:gdLst/>
            <a:ahLst/>
            <a:cxnLst/>
            <a:rect r="r" b="b" t="t" l="l"/>
            <a:pathLst>
              <a:path h="7233815" w="7233815">
                <a:moveTo>
                  <a:pt x="0" y="0"/>
                </a:moveTo>
                <a:lnTo>
                  <a:pt x="7233815" y="0"/>
                </a:lnTo>
                <a:lnTo>
                  <a:pt x="7233815" y="7233815"/>
                </a:lnTo>
                <a:lnTo>
                  <a:pt x="0" y="7233815"/>
                </a:lnTo>
                <a:lnTo>
                  <a:pt x="0" y="0"/>
                </a:lnTo>
                <a:close/>
              </a:path>
            </a:pathLst>
          </a:custGeom>
          <a:blipFill>
            <a:blip r:embed="rId2"/>
            <a:stretch>
              <a:fillRect l="0" t="0" r="0" b="0"/>
            </a:stretch>
          </a:blipFill>
        </p:spPr>
      </p:sp>
      <p:sp>
        <p:nvSpPr>
          <p:cNvPr name="TextBox 3" id="3"/>
          <p:cNvSpPr txBox="true"/>
          <p:nvPr/>
        </p:nvSpPr>
        <p:spPr>
          <a:xfrm rot="0">
            <a:off x="733178" y="3407506"/>
            <a:ext cx="9319539" cy="5010908"/>
          </a:xfrm>
          <a:prstGeom prst="rect">
            <a:avLst/>
          </a:prstGeom>
        </p:spPr>
        <p:txBody>
          <a:bodyPr anchor="t" rtlCol="false" tIns="0" lIns="0" bIns="0" rIns="0">
            <a:spAutoFit/>
          </a:bodyPr>
          <a:lstStyle/>
          <a:p>
            <a:pPr algn="l" marL="481481" indent="-240740" lvl="1">
              <a:lnSpc>
                <a:spcPts val="3345"/>
              </a:lnSpc>
              <a:buFont typeface="Arial"/>
              <a:buChar char="•"/>
            </a:pPr>
            <a:r>
              <a:rPr lang="en-US" sz="2230">
                <a:solidFill>
                  <a:srgbClr val="000000"/>
                </a:solidFill>
                <a:latin typeface="Open Sans 2"/>
                <a:ea typeface="Open Sans 2"/>
                <a:cs typeface="Open Sans 2"/>
                <a:sym typeface="Open Sans 2"/>
              </a:rPr>
              <a:t>cruci</a:t>
            </a:r>
            <a:r>
              <a:rPr lang="en-US" sz="2230" u="none">
                <a:solidFill>
                  <a:srgbClr val="000000"/>
                </a:solidFill>
                <a:latin typeface="Open Sans 2"/>
                <a:ea typeface="Open Sans 2"/>
                <a:cs typeface="Open Sans 2"/>
                <a:sym typeface="Open Sans 2"/>
              </a:rPr>
              <a:t>al for understanding the relationship between Min_Price and Max_Price,ie </a:t>
            </a:r>
            <a:r>
              <a:rPr lang="en-US" b="true" sz="2230" u="none">
                <a:solidFill>
                  <a:srgbClr val="000000"/>
                </a:solidFill>
                <a:latin typeface="Open Sans 2 Bold"/>
                <a:ea typeface="Open Sans 2 Bold"/>
                <a:cs typeface="Open Sans 2 Bold"/>
                <a:sym typeface="Open Sans 2 Bold"/>
              </a:rPr>
              <a:t>price spread = Max_Price - Min_Price</a:t>
            </a:r>
            <a:r>
              <a:rPr lang="en-US" sz="2230" u="none">
                <a:solidFill>
                  <a:srgbClr val="000000"/>
                </a:solidFill>
                <a:latin typeface="Open Sans 2"/>
                <a:ea typeface="Open Sans 2"/>
                <a:cs typeface="Open Sans 2"/>
                <a:sym typeface="Open Sans 2"/>
              </a:rPr>
              <a:t>.</a:t>
            </a:r>
          </a:p>
          <a:p>
            <a:pPr algn="l" marL="481481" indent="-240740" lvl="1">
              <a:lnSpc>
                <a:spcPts val="3345"/>
              </a:lnSpc>
              <a:buFont typeface="Arial"/>
              <a:buChar char="•"/>
            </a:pPr>
            <a:r>
              <a:rPr lang="en-US" sz="2230" u="none">
                <a:solidFill>
                  <a:srgbClr val="000000"/>
                </a:solidFill>
                <a:latin typeface="Open Sans 2"/>
                <a:ea typeface="Open Sans 2"/>
                <a:cs typeface="Open Sans 2"/>
                <a:sym typeface="Open Sans 2"/>
              </a:rPr>
              <a:t>If the points cluster tightly along the line of perfect equality (red), it suggests that the </a:t>
            </a:r>
            <a:r>
              <a:rPr lang="en-US" b="true" sz="2230" u="none">
                <a:solidFill>
                  <a:srgbClr val="000000"/>
                </a:solidFill>
                <a:latin typeface="Open Sans 2 Bold"/>
                <a:ea typeface="Open Sans 2 Bold"/>
                <a:cs typeface="Open Sans 2 Bold"/>
                <a:sym typeface="Open Sans 2 Bold"/>
              </a:rPr>
              <a:t>spread is consistently small</a:t>
            </a:r>
            <a:r>
              <a:rPr lang="en-US" sz="2230" u="none">
                <a:solidFill>
                  <a:srgbClr val="000000"/>
                </a:solidFill>
                <a:latin typeface="Open Sans 2"/>
                <a:ea typeface="Open Sans 2"/>
                <a:cs typeface="Open Sans 2"/>
                <a:sym typeface="Open Sans 2"/>
              </a:rPr>
              <a:t>.</a:t>
            </a:r>
          </a:p>
          <a:p>
            <a:pPr algn="l" marL="481481" indent="-240740" lvl="1">
              <a:lnSpc>
                <a:spcPts val="3345"/>
              </a:lnSpc>
              <a:buFont typeface="Arial"/>
              <a:buChar char="•"/>
            </a:pPr>
            <a:r>
              <a:rPr lang="en-US" sz="2230" u="none">
                <a:solidFill>
                  <a:srgbClr val="000000"/>
                </a:solidFill>
                <a:latin typeface="Open Sans 2"/>
                <a:ea typeface="Open Sans 2"/>
                <a:cs typeface="Open Sans 2"/>
                <a:sym typeface="Open Sans 2"/>
              </a:rPr>
              <a:t>The plot will likely show that as Min_Price increases, the price spread also tends to increase. This means that </a:t>
            </a:r>
            <a:r>
              <a:rPr lang="en-US" b="true" sz="2230" u="none">
                <a:solidFill>
                  <a:srgbClr val="000000"/>
                </a:solidFill>
                <a:latin typeface="Open Sans 2 Bold"/>
                <a:ea typeface="Open Sans 2 Bold"/>
                <a:cs typeface="Open Sans 2 Bold"/>
                <a:sym typeface="Open Sans 2 Bold"/>
              </a:rPr>
              <a:t>higher-priced commodities often exhibit wider price fluctuations</a:t>
            </a:r>
            <a:r>
              <a:rPr lang="en-US" sz="2230" u="none">
                <a:solidFill>
                  <a:srgbClr val="000000"/>
                </a:solidFill>
                <a:latin typeface="Open Sans 2"/>
                <a:ea typeface="Open Sans 2"/>
                <a:cs typeface="Open Sans 2"/>
                <a:sym typeface="Open Sans 2"/>
              </a:rPr>
              <a:t>, while </a:t>
            </a:r>
            <a:r>
              <a:rPr lang="en-US" b="true" sz="2230" u="none">
                <a:solidFill>
                  <a:srgbClr val="000000"/>
                </a:solidFill>
                <a:latin typeface="Open Sans 2 Bold"/>
                <a:ea typeface="Open Sans 2 Bold"/>
                <a:cs typeface="Open Sans 2 Bold"/>
                <a:sym typeface="Open Sans 2 Bold"/>
              </a:rPr>
              <a:t>lower-priced commodities have more stable</a:t>
            </a:r>
            <a:r>
              <a:rPr lang="en-US" sz="2230" u="none">
                <a:solidFill>
                  <a:srgbClr val="000000"/>
                </a:solidFill>
                <a:latin typeface="Open Sans 2"/>
                <a:ea typeface="Open Sans 2"/>
                <a:cs typeface="Open Sans 2"/>
                <a:sym typeface="Open Sans 2"/>
              </a:rPr>
              <a:t> price bands.</a:t>
            </a:r>
          </a:p>
          <a:p>
            <a:pPr algn="l" marL="481481" indent="-240740" lvl="1">
              <a:lnSpc>
                <a:spcPts val="3345"/>
              </a:lnSpc>
              <a:buFont typeface="Arial"/>
              <a:buChar char="•"/>
            </a:pPr>
            <a:r>
              <a:rPr lang="en-US" sz="2230" u="none">
                <a:solidFill>
                  <a:srgbClr val="000000"/>
                </a:solidFill>
                <a:latin typeface="Open Sans 2"/>
                <a:ea typeface="Open Sans 2"/>
                <a:cs typeface="Open Sans 2"/>
                <a:sym typeface="Open Sans 2"/>
              </a:rPr>
              <a:t>The points farthest from the dashed line represent the </a:t>
            </a:r>
            <a:r>
              <a:rPr lang="en-US" b="true" sz="2230" u="none">
                <a:solidFill>
                  <a:srgbClr val="000000"/>
                </a:solidFill>
                <a:latin typeface="Open Sans 2 Bold"/>
                <a:ea typeface="Open Sans 2 Bold"/>
                <a:cs typeface="Open Sans 2 Bold"/>
                <a:sym typeface="Open Sans 2 Bold"/>
              </a:rPr>
              <a:t>anomalies</a:t>
            </a:r>
            <a:r>
              <a:rPr lang="en-US" sz="2230" u="none">
                <a:solidFill>
                  <a:srgbClr val="000000"/>
                </a:solidFill>
                <a:latin typeface="Open Sans 2"/>
                <a:ea typeface="Open Sans 2"/>
                <a:cs typeface="Open Sans 2"/>
                <a:sym typeface="Open Sans 2"/>
              </a:rPr>
              <a:t>  where the difference between the minimum and maximum prices is unusually large.</a:t>
            </a:r>
          </a:p>
          <a:p>
            <a:pPr algn="l">
              <a:lnSpc>
                <a:spcPts val="3345"/>
              </a:lnSpc>
            </a:pPr>
          </a:p>
        </p:txBody>
      </p:sp>
      <p:sp>
        <p:nvSpPr>
          <p:cNvPr name="TextBox 4" id="4"/>
          <p:cNvSpPr txBox="true"/>
          <p:nvPr/>
        </p:nvSpPr>
        <p:spPr>
          <a:xfrm rot="0">
            <a:off x="1032629" y="1028700"/>
            <a:ext cx="8111371" cy="1219200"/>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000000"/>
                </a:solidFill>
                <a:latin typeface="Open Sans 2 Bold"/>
                <a:ea typeface="Open Sans 2 Bold"/>
                <a:cs typeface="Open Sans 2 Bold"/>
                <a:sym typeface="Open Sans 2 Bold"/>
              </a:rPr>
              <a:t>Scatter Plot </a:t>
            </a:r>
          </a:p>
        </p:txBody>
      </p:sp>
      <p:sp>
        <p:nvSpPr>
          <p:cNvPr name="TextBox 5" id="5"/>
          <p:cNvSpPr txBox="true"/>
          <p:nvPr/>
        </p:nvSpPr>
        <p:spPr>
          <a:xfrm rot="0">
            <a:off x="6202730" y="2531206"/>
            <a:ext cx="3128002" cy="571500"/>
          </a:xfrm>
          <a:prstGeom prst="rect">
            <a:avLst/>
          </a:prstGeom>
        </p:spPr>
        <p:txBody>
          <a:bodyPr anchor="t" rtlCol="false" tIns="0" lIns="0" bIns="0" rIns="0">
            <a:spAutoFit/>
          </a:bodyPr>
          <a:lstStyle/>
          <a:p>
            <a:pPr algn="ctr">
              <a:lnSpc>
                <a:spcPts val="3840"/>
              </a:lnSpc>
              <a:spcBef>
                <a:spcPct val="0"/>
              </a:spcBef>
            </a:pPr>
            <a:r>
              <a:rPr lang="en-US" b="true" sz="3200">
                <a:solidFill>
                  <a:srgbClr val="000000"/>
                </a:solidFill>
                <a:latin typeface="Cooper Hewitt Bold"/>
                <a:ea typeface="Cooper Hewitt Bold"/>
                <a:cs typeface="Cooper Hewitt Bold"/>
                <a:sym typeface="Cooper Hewitt Bold"/>
              </a:rPr>
              <a:t>Price Spread</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9223231" y="8895219"/>
            <a:ext cx="11552272" cy="1596314"/>
          </a:xfrm>
          <a:custGeom>
            <a:avLst/>
            <a:gdLst/>
            <a:ahLst/>
            <a:cxnLst/>
            <a:rect r="r" b="b" t="t" l="l"/>
            <a:pathLst>
              <a:path h="1596314" w="11552272">
                <a:moveTo>
                  <a:pt x="11552272" y="0"/>
                </a:moveTo>
                <a:lnTo>
                  <a:pt x="0" y="0"/>
                </a:lnTo>
                <a:lnTo>
                  <a:pt x="0" y="1596314"/>
                </a:lnTo>
                <a:lnTo>
                  <a:pt x="11552272" y="1596314"/>
                </a:lnTo>
                <a:lnTo>
                  <a:pt x="115522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649686" y="-149539"/>
            <a:ext cx="11546413" cy="1595504"/>
          </a:xfrm>
          <a:custGeom>
            <a:avLst/>
            <a:gdLst/>
            <a:ahLst/>
            <a:cxnLst/>
            <a:rect r="r" b="b" t="t" l="l"/>
            <a:pathLst>
              <a:path h="1595504" w="11546413">
                <a:moveTo>
                  <a:pt x="11546413" y="0"/>
                </a:moveTo>
                <a:lnTo>
                  <a:pt x="0" y="0"/>
                </a:lnTo>
                <a:lnTo>
                  <a:pt x="0" y="1595505"/>
                </a:lnTo>
                <a:lnTo>
                  <a:pt x="11546413" y="1595505"/>
                </a:lnTo>
                <a:lnTo>
                  <a:pt x="1154641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491967">
            <a:off x="4366081" y="1559751"/>
            <a:ext cx="1707111" cy="1555022"/>
          </a:xfrm>
          <a:custGeom>
            <a:avLst/>
            <a:gdLst/>
            <a:ahLst/>
            <a:cxnLst/>
            <a:rect r="r" b="b" t="t" l="l"/>
            <a:pathLst>
              <a:path h="1555022" w="1707111">
                <a:moveTo>
                  <a:pt x="0" y="0"/>
                </a:moveTo>
                <a:lnTo>
                  <a:pt x="1707110" y="0"/>
                </a:lnTo>
                <a:lnTo>
                  <a:pt x="1707110" y="1555023"/>
                </a:lnTo>
                <a:lnTo>
                  <a:pt x="0" y="1555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182303" y="4220763"/>
            <a:ext cx="3634128" cy="4158041"/>
          </a:xfrm>
          <a:custGeom>
            <a:avLst/>
            <a:gdLst/>
            <a:ahLst/>
            <a:cxnLst/>
            <a:rect r="r" b="b" t="t" l="l"/>
            <a:pathLst>
              <a:path h="4158041" w="3634128">
                <a:moveTo>
                  <a:pt x="0" y="0"/>
                </a:moveTo>
                <a:lnTo>
                  <a:pt x="3634128" y="0"/>
                </a:lnTo>
                <a:lnTo>
                  <a:pt x="3634128" y="4158041"/>
                </a:lnTo>
                <a:lnTo>
                  <a:pt x="0" y="41580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7104264">
            <a:off x="152632" y="3931750"/>
            <a:ext cx="3895386" cy="4128059"/>
          </a:xfrm>
          <a:custGeom>
            <a:avLst/>
            <a:gdLst/>
            <a:ahLst/>
            <a:cxnLst/>
            <a:rect r="r" b="b" t="t" l="l"/>
            <a:pathLst>
              <a:path h="4128059" w="3895386">
                <a:moveTo>
                  <a:pt x="0" y="4128059"/>
                </a:moveTo>
                <a:lnTo>
                  <a:pt x="3895387" y="4128059"/>
                </a:lnTo>
                <a:lnTo>
                  <a:pt x="3895387" y="0"/>
                </a:lnTo>
                <a:lnTo>
                  <a:pt x="0" y="0"/>
                </a:lnTo>
                <a:lnTo>
                  <a:pt x="0" y="4128059"/>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568932">
            <a:off x="12894609" y="960037"/>
            <a:ext cx="1480813" cy="2123030"/>
          </a:xfrm>
          <a:custGeom>
            <a:avLst/>
            <a:gdLst/>
            <a:ahLst/>
            <a:cxnLst/>
            <a:rect r="r" b="b" t="t" l="l"/>
            <a:pathLst>
              <a:path h="2123030" w="1480813">
                <a:moveTo>
                  <a:pt x="0" y="0"/>
                </a:moveTo>
                <a:lnTo>
                  <a:pt x="1480813" y="0"/>
                </a:lnTo>
                <a:lnTo>
                  <a:pt x="1480813" y="2123030"/>
                </a:lnTo>
                <a:lnTo>
                  <a:pt x="0" y="21230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4955707" y="2879051"/>
            <a:ext cx="8376587" cy="5499753"/>
          </a:xfrm>
          <a:prstGeom prst="rect">
            <a:avLst/>
          </a:prstGeom>
        </p:spPr>
        <p:txBody>
          <a:bodyPr anchor="t" rtlCol="false" tIns="0" lIns="0" bIns="0" rIns="0">
            <a:spAutoFit/>
          </a:bodyPr>
          <a:lstStyle/>
          <a:p>
            <a:pPr algn="ctr">
              <a:lnSpc>
                <a:spcPts val="21650"/>
              </a:lnSpc>
            </a:pPr>
            <a:r>
              <a:rPr lang="en-US" sz="18504" spc="407">
                <a:solidFill>
                  <a:srgbClr val="000000"/>
                </a:solidFill>
                <a:latin typeface="Pompiere"/>
                <a:ea typeface="Pompiere"/>
                <a:cs typeface="Pompiere"/>
                <a:sym typeface="Pompiere"/>
              </a:rPr>
              <a:t>THANK</a:t>
            </a:r>
          </a:p>
          <a:p>
            <a:pPr algn="ctr">
              <a:lnSpc>
                <a:spcPts val="21650"/>
              </a:lnSpc>
            </a:pPr>
            <a:r>
              <a:rPr lang="en-US" sz="18504" spc="407">
                <a:solidFill>
                  <a:srgbClr val="000000"/>
                </a:solidFill>
                <a:latin typeface="Pompiere"/>
                <a:ea typeface="Pompiere"/>
                <a:cs typeface="Pompiere"/>
                <a:sym typeface="Pompiere"/>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Agricultural Market Analysis in India</dc:description>
  <dc:identifier>DAGzurpCLWY</dc:identifier>
  <dcterms:modified xsi:type="dcterms:W3CDTF">2011-08-01T06:04:30Z</dcterms:modified>
  <cp:revision>1</cp:revision>
  <dc:title>Presentation - Agricultural Market Analysis in India</dc:title>
</cp:coreProperties>
</file>